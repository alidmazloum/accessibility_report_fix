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handoutMasterIdLst>
    <p:handoutMasterId r:id="rId52"/>
  </p:handoutMasterIdLst>
  <p:sldIdLst>
    <p:sldId id="343" r:id="rId5"/>
    <p:sldId id="257" r:id="rId6"/>
    <p:sldId id="301" r:id="rId7"/>
    <p:sldId id="302" r:id="rId8"/>
    <p:sldId id="303" r:id="rId9"/>
    <p:sldId id="304" r:id="rId10"/>
    <p:sldId id="305" r:id="rId11"/>
    <p:sldId id="306" r:id="rId12"/>
    <p:sldId id="307" r:id="rId13"/>
    <p:sldId id="308" r:id="rId14"/>
    <p:sldId id="309" r:id="rId15"/>
    <p:sldId id="310" r:id="rId16"/>
    <p:sldId id="311" r:id="rId17"/>
    <p:sldId id="313" r:id="rId18"/>
    <p:sldId id="314" r:id="rId19"/>
    <p:sldId id="315" r:id="rId20"/>
    <p:sldId id="316" r:id="rId21"/>
    <p:sldId id="318" r:id="rId22"/>
    <p:sldId id="317" r:id="rId23"/>
    <p:sldId id="352" r:id="rId24"/>
    <p:sldId id="320" r:id="rId25"/>
    <p:sldId id="321" r:id="rId26"/>
    <p:sldId id="322" r:id="rId27"/>
    <p:sldId id="323" r:id="rId28"/>
    <p:sldId id="347" r:id="rId29"/>
    <p:sldId id="348" r:id="rId30"/>
    <p:sldId id="324" r:id="rId31"/>
    <p:sldId id="325" r:id="rId32"/>
    <p:sldId id="327" r:id="rId33"/>
    <p:sldId id="328" r:id="rId34"/>
    <p:sldId id="329" r:id="rId35"/>
    <p:sldId id="330" r:id="rId36"/>
    <p:sldId id="331" r:id="rId37"/>
    <p:sldId id="332" r:id="rId38"/>
    <p:sldId id="333" r:id="rId39"/>
    <p:sldId id="334" r:id="rId40"/>
    <p:sldId id="335" r:id="rId41"/>
    <p:sldId id="336" r:id="rId42"/>
    <p:sldId id="338" r:id="rId43"/>
    <p:sldId id="339" r:id="rId44"/>
    <p:sldId id="340" r:id="rId45"/>
    <p:sldId id="349" r:id="rId46"/>
    <p:sldId id="350" r:id="rId47"/>
    <p:sldId id="351" r:id="rId48"/>
    <p:sldId id="299" r:id="rId49"/>
    <p:sldId id="300" r:id="rId5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6F2C26-4278-4814-B7E9-C2ACAD136163}" v="33" dt="2023-11-29T15:24:26.8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429"/>
  </p:normalViewPr>
  <p:slideViewPr>
    <p:cSldViewPr snapToGrid="0" snapToObjects="1">
      <p:cViewPr varScale="1">
        <p:scale>
          <a:sx n="111" d="100"/>
          <a:sy n="111" d="100"/>
        </p:scale>
        <p:origin x="594" y="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foury, Elie" userId="84109d90-edd2-4b66-aa0c-6442e64be8d1" providerId="ADAL" clId="{906F2C26-4278-4814-B7E9-C2ACAD136163}"/>
    <pc:docChg chg="addSld delSld modSld sldOrd">
      <pc:chgData name="Kfoury, Elie" userId="84109d90-edd2-4b66-aa0c-6442e64be8d1" providerId="ADAL" clId="{906F2C26-4278-4814-B7E9-C2ACAD136163}" dt="2023-11-29T15:24:30.070" v="63" actId="47"/>
      <pc:docMkLst>
        <pc:docMk/>
      </pc:docMkLst>
      <pc:sldChg chg="addSp modSp mod">
        <pc:chgData name="Kfoury, Elie" userId="84109d90-edd2-4b66-aa0c-6442e64be8d1" providerId="ADAL" clId="{906F2C26-4278-4814-B7E9-C2ACAD136163}" dt="2023-11-29T15:15:49.562" v="26" actId="14100"/>
        <pc:sldMkLst>
          <pc:docMk/>
          <pc:sldMk cId="1879038952" sldId="307"/>
        </pc:sldMkLst>
        <pc:spChg chg="mod">
          <ac:chgData name="Kfoury, Elie" userId="84109d90-edd2-4b66-aa0c-6442e64be8d1" providerId="ADAL" clId="{906F2C26-4278-4814-B7E9-C2ACAD136163}" dt="2023-11-29T15:15:49.562" v="26" actId="14100"/>
          <ac:spMkLst>
            <pc:docMk/>
            <pc:sldMk cId="1879038952" sldId="307"/>
            <ac:spMk id="3" creationId="{00000000-0000-0000-0000-000000000000}"/>
          </ac:spMkLst>
        </pc:spChg>
        <pc:picChg chg="add mod">
          <ac:chgData name="Kfoury, Elie" userId="84109d90-edd2-4b66-aa0c-6442e64be8d1" providerId="ADAL" clId="{906F2C26-4278-4814-B7E9-C2ACAD136163}" dt="2023-11-29T15:15:46.899" v="24" actId="1076"/>
          <ac:picMkLst>
            <pc:docMk/>
            <pc:sldMk cId="1879038952" sldId="307"/>
            <ac:picMk id="5" creationId="{C1344655-6976-847A-FD6B-9A04F1730F92}"/>
          </ac:picMkLst>
        </pc:picChg>
      </pc:sldChg>
      <pc:sldChg chg="addSp modSp mod">
        <pc:chgData name="Kfoury, Elie" userId="84109d90-edd2-4b66-aa0c-6442e64be8d1" providerId="ADAL" clId="{906F2C26-4278-4814-B7E9-C2ACAD136163}" dt="2023-11-29T15:15:43.473" v="23" actId="1076"/>
        <pc:sldMkLst>
          <pc:docMk/>
          <pc:sldMk cId="1421123662" sldId="308"/>
        </pc:sldMkLst>
        <pc:spChg chg="mod">
          <ac:chgData name="Kfoury, Elie" userId="84109d90-edd2-4b66-aa0c-6442e64be8d1" providerId="ADAL" clId="{906F2C26-4278-4814-B7E9-C2ACAD136163}" dt="2023-11-29T15:15:16.398" v="15" actId="27636"/>
          <ac:spMkLst>
            <pc:docMk/>
            <pc:sldMk cId="1421123662" sldId="308"/>
            <ac:spMk id="3" creationId="{00000000-0000-0000-0000-000000000000}"/>
          </ac:spMkLst>
        </pc:spChg>
        <pc:picChg chg="add mod">
          <ac:chgData name="Kfoury, Elie" userId="84109d90-edd2-4b66-aa0c-6442e64be8d1" providerId="ADAL" clId="{906F2C26-4278-4814-B7E9-C2ACAD136163}" dt="2023-11-29T15:15:43.473" v="23" actId="1076"/>
          <ac:picMkLst>
            <pc:docMk/>
            <pc:sldMk cId="1421123662" sldId="308"/>
            <ac:picMk id="5" creationId="{D2F3BB7F-A6CB-8E48-EE8F-0733CD68B2E3}"/>
          </ac:picMkLst>
        </pc:picChg>
      </pc:sldChg>
      <pc:sldChg chg="addSp modSp mod">
        <pc:chgData name="Kfoury, Elie" userId="84109d90-edd2-4b66-aa0c-6442e64be8d1" providerId="ADAL" clId="{906F2C26-4278-4814-B7E9-C2ACAD136163}" dt="2023-11-29T15:16:34.293" v="34" actId="14861"/>
        <pc:sldMkLst>
          <pc:docMk/>
          <pc:sldMk cId="2404317145" sldId="309"/>
        </pc:sldMkLst>
        <pc:spChg chg="mod">
          <ac:chgData name="Kfoury, Elie" userId="84109d90-edd2-4b66-aa0c-6442e64be8d1" providerId="ADAL" clId="{906F2C26-4278-4814-B7E9-C2ACAD136163}" dt="2023-11-29T15:16:05.883" v="27" actId="14100"/>
          <ac:spMkLst>
            <pc:docMk/>
            <pc:sldMk cId="2404317145" sldId="309"/>
            <ac:spMk id="3" creationId="{00000000-0000-0000-0000-000000000000}"/>
          </ac:spMkLst>
        </pc:spChg>
        <pc:picChg chg="add mod">
          <ac:chgData name="Kfoury, Elie" userId="84109d90-edd2-4b66-aa0c-6442e64be8d1" providerId="ADAL" clId="{906F2C26-4278-4814-B7E9-C2ACAD136163}" dt="2023-11-29T15:16:34.293" v="34" actId="14861"/>
          <ac:picMkLst>
            <pc:docMk/>
            <pc:sldMk cId="2404317145" sldId="309"/>
            <ac:picMk id="5" creationId="{E0DAA01D-A7EB-00AA-9E7B-3195EFEE4D1B}"/>
          </ac:picMkLst>
        </pc:picChg>
      </pc:sldChg>
      <pc:sldChg chg="addSp modSp mod">
        <pc:chgData name="Kfoury, Elie" userId="84109d90-edd2-4b66-aa0c-6442e64be8d1" providerId="ADAL" clId="{906F2C26-4278-4814-B7E9-C2ACAD136163}" dt="2023-11-29T15:18:08.737" v="42" actId="27636"/>
        <pc:sldMkLst>
          <pc:docMk/>
          <pc:sldMk cId="2272560845" sldId="313"/>
        </pc:sldMkLst>
        <pc:spChg chg="mod">
          <ac:chgData name="Kfoury, Elie" userId="84109d90-edd2-4b66-aa0c-6442e64be8d1" providerId="ADAL" clId="{906F2C26-4278-4814-B7E9-C2ACAD136163}" dt="2023-11-29T15:18:08.737" v="42" actId="27636"/>
          <ac:spMkLst>
            <pc:docMk/>
            <pc:sldMk cId="2272560845" sldId="313"/>
            <ac:spMk id="3" creationId="{00000000-0000-0000-0000-000000000000}"/>
          </ac:spMkLst>
        </pc:spChg>
        <pc:picChg chg="add mod">
          <ac:chgData name="Kfoury, Elie" userId="84109d90-edd2-4b66-aa0c-6442e64be8d1" providerId="ADAL" clId="{906F2C26-4278-4814-B7E9-C2ACAD136163}" dt="2023-11-29T15:18:05.739" v="40" actId="1076"/>
          <ac:picMkLst>
            <pc:docMk/>
            <pc:sldMk cId="2272560845" sldId="313"/>
            <ac:picMk id="5" creationId="{1E33833D-1243-5F9E-B20A-B7956E11CA0E}"/>
          </ac:picMkLst>
        </pc:picChg>
      </pc:sldChg>
      <pc:sldChg chg="addSp delSp modSp">
        <pc:chgData name="Kfoury, Elie" userId="84109d90-edd2-4b66-aa0c-6442e64be8d1" providerId="ADAL" clId="{906F2C26-4278-4814-B7E9-C2ACAD136163}" dt="2023-11-29T15:24:08.550" v="46" actId="21"/>
        <pc:sldMkLst>
          <pc:docMk/>
          <pc:sldMk cId="818043492" sldId="317"/>
        </pc:sldMkLst>
        <pc:picChg chg="add del mod">
          <ac:chgData name="Kfoury, Elie" userId="84109d90-edd2-4b66-aa0c-6442e64be8d1" providerId="ADAL" clId="{906F2C26-4278-4814-B7E9-C2ACAD136163}" dt="2023-11-29T15:24:08.550" v="46" actId="21"/>
          <ac:picMkLst>
            <pc:docMk/>
            <pc:sldMk cId="818043492" sldId="317"/>
            <ac:picMk id="1026" creationId="{D03E24E3-69A8-EFF1-66D2-A240788B59C0}"/>
          </ac:picMkLst>
        </pc:picChg>
      </pc:sldChg>
      <pc:sldChg chg="modSp">
        <pc:chgData name="Kfoury, Elie" userId="84109d90-edd2-4b66-aa0c-6442e64be8d1" providerId="ADAL" clId="{906F2C26-4278-4814-B7E9-C2ACAD136163}" dt="2023-11-29T15:09:44.485" v="2" actId="20578"/>
        <pc:sldMkLst>
          <pc:docMk/>
          <pc:sldMk cId="2577873688" sldId="321"/>
        </pc:sldMkLst>
        <pc:spChg chg="mod">
          <ac:chgData name="Kfoury, Elie" userId="84109d90-edd2-4b66-aa0c-6442e64be8d1" providerId="ADAL" clId="{906F2C26-4278-4814-B7E9-C2ACAD136163}" dt="2023-11-29T15:09:44.485" v="2" actId="20578"/>
          <ac:spMkLst>
            <pc:docMk/>
            <pc:sldMk cId="2577873688" sldId="321"/>
            <ac:spMk id="3" creationId="{00000000-0000-0000-0000-000000000000}"/>
          </ac:spMkLst>
        </pc:spChg>
      </pc:sldChg>
      <pc:sldChg chg="modSp mod">
        <pc:chgData name="Kfoury, Elie" userId="84109d90-edd2-4b66-aa0c-6442e64be8d1" providerId="ADAL" clId="{906F2C26-4278-4814-B7E9-C2ACAD136163}" dt="2023-11-29T15:11:56.427" v="3" actId="20577"/>
        <pc:sldMkLst>
          <pc:docMk/>
          <pc:sldMk cId="3956378541" sldId="325"/>
        </pc:sldMkLst>
        <pc:spChg chg="mod">
          <ac:chgData name="Kfoury, Elie" userId="84109d90-edd2-4b66-aa0c-6442e64be8d1" providerId="ADAL" clId="{906F2C26-4278-4814-B7E9-C2ACAD136163}" dt="2023-11-29T15:11:56.427" v="3" actId="20577"/>
          <ac:spMkLst>
            <pc:docMk/>
            <pc:sldMk cId="3956378541" sldId="325"/>
            <ac:spMk id="3" creationId="{00000000-0000-0000-0000-000000000000}"/>
          </ac:spMkLst>
        </pc:spChg>
      </pc:sldChg>
      <pc:sldChg chg="ord">
        <pc:chgData name="Kfoury, Elie" userId="84109d90-edd2-4b66-aa0c-6442e64be8d1" providerId="ADAL" clId="{906F2C26-4278-4814-B7E9-C2ACAD136163}" dt="2023-11-28T23:48:04.734" v="1"/>
        <pc:sldMkLst>
          <pc:docMk/>
          <pc:sldMk cId="3105160261" sldId="332"/>
        </pc:sldMkLst>
      </pc:sldChg>
      <pc:sldChg chg="del">
        <pc:chgData name="Kfoury, Elie" userId="84109d90-edd2-4b66-aa0c-6442e64be8d1" providerId="ADAL" clId="{906F2C26-4278-4814-B7E9-C2ACAD136163}" dt="2023-11-29T15:24:30.070" v="63" actId="47"/>
        <pc:sldMkLst>
          <pc:docMk/>
          <pc:sldMk cId="512634690" sldId="345"/>
        </pc:sldMkLst>
      </pc:sldChg>
      <pc:sldChg chg="del">
        <pc:chgData name="Kfoury, Elie" userId="84109d90-edd2-4b66-aa0c-6442e64be8d1" providerId="ADAL" clId="{906F2C26-4278-4814-B7E9-C2ACAD136163}" dt="2023-11-29T15:24:30.070" v="63" actId="47"/>
        <pc:sldMkLst>
          <pc:docMk/>
          <pc:sldMk cId="2921137733" sldId="346"/>
        </pc:sldMkLst>
      </pc:sldChg>
      <pc:sldChg chg="addSp delSp modSp add mod">
        <pc:chgData name="Kfoury, Elie" userId="84109d90-edd2-4b66-aa0c-6442e64be8d1" providerId="ADAL" clId="{906F2C26-4278-4814-B7E9-C2ACAD136163}" dt="2023-11-29T15:24:26.853" v="62" actId="1076"/>
        <pc:sldMkLst>
          <pc:docMk/>
          <pc:sldMk cId="2317610307" sldId="352"/>
        </pc:sldMkLst>
        <pc:spChg chg="del mod">
          <ac:chgData name="Kfoury, Elie" userId="84109d90-edd2-4b66-aa0c-6442e64be8d1" providerId="ADAL" clId="{906F2C26-4278-4814-B7E9-C2ACAD136163}" dt="2023-11-29T15:24:23.452" v="60" actId="478"/>
          <ac:spMkLst>
            <pc:docMk/>
            <pc:sldMk cId="2317610307" sldId="352"/>
            <ac:spMk id="3" creationId="{00000000-0000-0000-0000-000000000000}"/>
          </ac:spMkLst>
        </pc:spChg>
        <pc:picChg chg="add mod">
          <ac:chgData name="Kfoury, Elie" userId="84109d90-edd2-4b66-aa0c-6442e64be8d1" providerId="ADAL" clId="{906F2C26-4278-4814-B7E9-C2ACAD136163}" dt="2023-11-29T15:24:26.853" v="62" actId="1076"/>
          <ac:picMkLst>
            <pc:docMk/>
            <pc:sldMk cId="2317610307" sldId="352"/>
            <ac:picMk id="4" creationId="{F066BE4E-F776-D238-7EB8-AAC777A1A9C2}"/>
          </ac:picMkLst>
        </pc:picChg>
      </pc:sldChg>
    </pc:docChg>
  </pc:docChgLst>
  <pc:docChgLst>
    <pc:chgData name="Greenhouse, Brooke" userId="452988ab-1343-4483-bbbf-06c809cf8e3f" providerId="ADAL" clId="{D5C46899-FF10-4C2A-B7A2-AB483FD2B6C9}"/>
    <pc:docChg chg="modSld">
      <pc:chgData name="Greenhouse, Brooke" userId="452988ab-1343-4483-bbbf-06c809cf8e3f" providerId="ADAL" clId="{D5C46899-FF10-4C2A-B7A2-AB483FD2B6C9}" dt="2020-12-21T20:54:43.586" v="3" actId="962"/>
      <pc:docMkLst>
        <pc:docMk/>
      </pc:docMkLst>
      <pc:sldChg chg="modSp">
        <pc:chgData name="Greenhouse, Brooke" userId="452988ab-1343-4483-bbbf-06c809cf8e3f" providerId="ADAL" clId="{D5C46899-FF10-4C2A-B7A2-AB483FD2B6C9}" dt="2020-12-21T20:54:20.686" v="1" actId="962"/>
        <pc:sldMkLst>
          <pc:docMk/>
          <pc:sldMk cId="1094277725" sldId="305"/>
        </pc:sldMkLst>
        <pc:picChg chg="mod">
          <ac:chgData name="Greenhouse, Brooke" userId="452988ab-1343-4483-bbbf-06c809cf8e3f" providerId="ADAL" clId="{D5C46899-FF10-4C2A-B7A2-AB483FD2B6C9}" dt="2020-12-21T20:54:20.686" v="1" actId="962"/>
          <ac:picMkLst>
            <pc:docMk/>
            <pc:sldMk cId="1094277725" sldId="305"/>
            <ac:picMk id="5" creationId="{00000000-0000-0000-0000-000000000000}"/>
          </ac:picMkLst>
        </pc:picChg>
      </pc:sldChg>
      <pc:sldChg chg="modSp">
        <pc:chgData name="Greenhouse, Brooke" userId="452988ab-1343-4483-bbbf-06c809cf8e3f" providerId="ADAL" clId="{D5C46899-FF10-4C2A-B7A2-AB483FD2B6C9}" dt="2020-12-21T20:54:43.586" v="3" actId="962"/>
        <pc:sldMkLst>
          <pc:docMk/>
          <pc:sldMk cId="4050240726" sldId="335"/>
        </pc:sldMkLst>
        <pc:picChg chg="mod">
          <ac:chgData name="Greenhouse, Brooke" userId="452988ab-1343-4483-bbbf-06c809cf8e3f" providerId="ADAL" clId="{D5C46899-FF10-4C2A-B7A2-AB483FD2B6C9}" dt="2020-12-21T20:54:43.586" v="3" actId="962"/>
          <ac:picMkLst>
            <pc:docMk/>
            <pc:sldMk cId="4050240726" sldId="335"/>
            <ac:picMk id="5"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11/28/2023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11/28/2023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Mark Ciampa, </a:t>
            </a:r>
            <a:r>
              <a:rPr lang="en-US" altLang="zh-CN" dirty="0"/>
              <a:t>CompTIA Security+ Guide to Network Security Fundamentals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996910" y="1775534"/>
            <a:ext cx="6402684" cy="1955379"/>
          </a:xfrm>
        </p:spPr>
        <p:txBody>
          <a:bodyPr/>
          <a:lstStyle/>
          <a:p>
            <a:pPr algn="ctr"/>
            <a:r>
              <a:rPr lang="en-US" altLang="zh-CN" dirty="0"/>
              <a:t>CompTIA Security+ Guide </a:t>
            </a:r>
          </a:p>
          <a:p>
            <a:pPr algn="ctr"/>
            <a:r>
              <a:rPr lang="en-US" altLang="zh-CN" dirty="0"/>
              <a:t>to Network Security Fundamentals, </a:t>
            </a:r>
            <a:r>
              <a:rPr lang="en-US" dirty="0"/>
              <a:t>7</a:t>
            </a:r>
            <a:r>
              <a:rPr lang="en-US" baseline="30000" dirty="0"/>
              <a:t>th</a:t>
            </a:r>
            <a:r>
              <a:rPr lang="en-US" dirty="0"/>
              <a:t> Edition</a:t>
            </a:r>
          </a:p>
        </p:txBody>
      </p:sp>
      <p:sp>
        <p:nvSpPr>
          <p:cNvPr id="7" name="Title 6"/>
          <p:cNvSpPr>
            <a:spLocks noGrp="1"/>
          </p:cNvSpPr>
          <p:nvPr>
            <p:ph type="title"/>
          </p:nvPr>
        </p:nvSpPr>
        <p:spPr>
          <a:xfrm>
            <a:off x="3996910" y="4035474"/>
            <a:ext cx="6402684" cy="993726"/>
          </a:xfrm>
        </p:spPr>
        <p:txBody>
          <a:bodyPr/>
          <a:lstStyle/>
          <a:p>
            <a:pPr algn="ctr"/>
            <a:r>
              <a:rPr lang="en-US" b="0" dirty="0"/>
              <a:t>Module 13: Incident Preparation, Response, and Investigation</a:t>
            </a:r>
          </a:p>
        </p:txBody>
      </p:sp>
      <p:pic>
        <p:nvPicPr>
          <p:cNvPr id="4" name="Picture Placeholder 3" descr="Text&#10;&#10;Description automatically generated">
            <a:extLst>
              <a:ext uri="{FF2B5EF4-FFF2-40B4-BE49-F238E27FC236}">
                <a16:creationId xmlns:a16="http://schemas.microsoft.com/office/drawing/2014/main" id="{3809B481-F029-4BB4-9E0F-909F2A91CB4D}"/>
              </a:ext>
            </a:extLst>
          </p:cNvPr>
          <p:cNvPicPr>
            <a:picLocks noGrp="1" noChangeAspect="1"/>
          </p:cNvPicPr>
          <p:nvPr>
            <p:ph type="pic" sz="quarter" idx="12"/>
          </p:nvPr>
        </p:nvPicPr>
        <p:blipFill>
          <a:blip r:embed="rId2"/>
          <a:srcRect l="462" r="462"/>
          <a:stretch>
            <a:fillRect/>
          </a:stretch>
        </p:blipFill>
        <p:spPr>
          <a:xfrm>
            <a:off x="338138" y="933450"/>
            <a:ext cx="3343275" cy="4318000"/>
          </a:xfrm>
        </p:spPr>
      </p:pic>
      <p:sp>
        <p:nvSpPr>
          <p:cNvPr id="5" name="Footer Placeholder 4"/>
          <p:cNvSpPr>
            <a:spLocks noGrp="1"/>
          </p:cNvSpPr>
          <p:nvPr>
            <p:ph type="ftr" sz="quarter" idx="3"/>
          </p:nvPr>
        </p:nvSpPr>
        <p:spPr/>
        <p:txBody>
          <a:body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5028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dirty="0"/>
              <a:t>By the end of this module, you should be able to: </a:t>
            </a:r>
          </a:p>
          <a:p>
            <a:pPr>
              <a:lnSpc>
                <a:spcPct val="100000"/>
              </a:lnSpc>
              <a:spcBef>
                <a:spcPts val="0"/>
              </a:spcBef>
            </a:pPr>
            <a:endParaRPr lang="en-US" altLang="zh-CN" sz="2000" dirty="0"/>
          </a:p>
          <a:p>
            <a:pPr>
              <a:lnSpc>
                <a:spcPct val="100000"/>
              </a:lnSpc>
              <a:spcBef>
                <a:spcPts val="0"/>
              </a:spcBef>
            </a:pPr>
            <a:r>
              <a:rPr lang="en-US" altLang="zh-CN" sz="2000" dirty="0">
                <a:latin typeface="Arial"/>
                <a:cs typeface="Arial"/>
              </a:rPr>
              <a:t>1. Explain the steps in preparing for a cybersecurity incident</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2. Describe how to respond in an incident</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3. List the steps in an incident investigation</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 </a:t>
            </a:r>
          </a:p>
          <a:p>
            <a:pPr>
              <a:lnSpc>
                <a:spcPct val="100000"/>
              </a:lnSpc>
              <a:spcBef>
                <a:spcPts val="0"/>
              </a:spcBef>
            </a:pPr>
            <a:endParaRPr lang="en-US" altLang="zh-CN" sz="2000" dirty="0">
              <a:latin typeface="Arial"/>
              <a:cs typeface="Arial"/>
            </a:endParaRPr>
          </a:p>
          <a:p>
            <a:pPr>
              <a:lnSpc>
                <a:spcPct val="100000"/>
              </a:lnSpc>
              <a:spcBef>
                <a:spcPts val="0"/>
              </a:spcBef>
            </a:pPr>
            <a:endParaRPr lang="en-US" altLang="zh-CN" sz="2000" dirty="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 of 13)</a:t>
            </a:r>
            <a:endParaRPr lang="zh-CN" altLang="en-US" dirty="0"/>
          </a:p>
        </p:txBody>
      </p:sp>
      <p:sp>
        <p:nvSpPr>
          <p:cNvPr id="3" name="Text Placeholder 2"/>
          <p:cNvSpPr>
            <a:spLocks noGrp="1"/>
          </p:cNvSpPr>
          <p:nvPr>
            <p:ph type="body" sz="quarter" idx="17"/>
          </p:nvPr>
        </p:nvSpPr>
        <p:spPr/>
        <p:txBody>
          <a:bodyPr/>
          <a:lstStyle/>
          <a:p>
            <a:r>
              <a:rPr lang="en-US" altLang="zh-CN" dirty="0"/>
              <a:t>Cybersecurity incidents can be classified into two broad areas: weak account types and poor access control</a:t>
            </a:r>
          </a:p>
          <a:p>
            <a:r>
              <a:rPr lang="en-US" altLang="zh-CN" dirty="0"/>
              <a:t>Weak Account Types</a:t>
            </a:r>
          </a:p>
          <a:p>
            <a:pPr lvl="1"/>
            <a:r>
              <a:rPr lang="en-US" altLang="zh-CN" dirty="0"/>
              <a:t>Strong authentication should be required on all user accounts</a:t>
            </a:r>
          </a:p>
          <a:p>
            <a:pPr lvl="1"/>
            <a:r>
              <a:rPr lang="en-US" altLang="zh-CN" dirty="0"/>
              <a:t>Users accounts should be routinely reviewed for security </a:t>
            </a:r>
          </a:p>
          <a:p>
            <a:pPr lvl="2"/>
            <a:r>
              <a:rPr lang="en-US" altLang="zh-CN" dirty="0"/>
              <a:t>If necessary, some accounts may need to be deleted or strengthened </a:t>
            </a:r>
          </a:p>
          <a:p>
            <a:pPr lvl="1"/>
            <a:r>
              <a:rPr lang="en-US" altLang="zh-CN" dirty="0"/>
              <a:t>Any of the following accounts should be prohibited:</a:t>
            </a:r>
          </a:p>
          <a:p>
            <a:pPr lvl="2"/>
            <a:r>
              <a:rPr lang="en-US" altLang="zh-CN" b="1" dirty="0"/>
              <a:t>Shared account</a:t>
            </a:r>
          </a:p>
          <a:p>
            <a:pPr lvl="2"/>
            <a:r>
              <a:rPr lang="en-US" altLang="zh-CN" b="1" dirty="0"/>
              <a:t>Generic account</a:t>
            </a:r>
          </a:p>
          <a:p>
            <a:pPr lvl="2"/>
            <a:r>
              <a:rPr lang="en-US" altLang="zh-CN" b="1" dirty="0"/>
              <a:t>Guest account</a:t>
            </a:r>
            <a:endParaRPr lang="zh-CN" altLang="en-US" b="1" dirty="0"/>
          </a:p>
        </p:txBody>
      </p:sp>
    </p:spTree>
    <p:extLst>
      <p:ext uri="{BB962C8B-B14F-4D97-AF65-F5344CB8AC3E}">
        <p14:creationId xmlns:p14="http://schemas.microsoft.com/office/powerpoint/2010/main" val="2585165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(2 of 13)</a:t>
            </a:r>
            <a:endParaRPr lang="zh-CN" altLang="en-US" dirty="0"/>
          </a:p>
        </p:txBody>
      </p:sp>
      <p:sp>
        <p:nvSpPr>
          <p:cNvPr id="3" name="Text Placeholder 2"/>
          <p:cNvSpPr>
            <a:spLocks noGrp="1"/>
          </p:cNvSpPr>
          <p:nvPr>
            <p:ph type="body" sz="quarter" idx="17"/>
          </p:nvPr>
        </p:nvSpPr>
        <p:spPr/>
        <p:txBody>
          <a:bodyPr/>
          <a:lstStyle/>
          <a:p>
            <a:r>
              <a:rPr lang="en-US" altLang="zh-CN" dirty="0"/>
              <a:t>Poor Access Control</a:t>
            </a:r>
          </a:p>
          <a:p>
            <a:pPr lvl="1"/>
            <a:r>
              <a:rPr lang="en-US" altLang="en-US" dirty="0"/>
              <a:t>Access control is granting or denying approval to use specific resources</a:t>
            </a:r>
          </a:p>
          <a:p>
            <a:pPr lvl="1"/>
            <a:r>
              <a:rPr lang="en-US" altLang="en-US" dirty="0"/>
              <a:t>Physical access control consists of fencing, hardware door locks, and mantraps to limit contact with devices</a:t>
            </a:r>
          </a:p>
          <a:p>
            <a:pPr lvl="1"/>
            <a:r>
              <a:rPr lang="en-US" altLang="en-US" dirty="0"/>
              <a:t>Technical access control consists of technology restrictions that limit users on computers from accessing data</a:t>
            </a:r>
          </a:p>
          <a:p>
            <a:pPr lvl="1"/>
            <a:r>
              <a:rPr lang="en-US" altLang="en-US" dirty="0"/>
              <a:t>There are standard access control models that are used to help enforce access control</a:t>
            </a:r>
          </a:p>
          <a:p>
            <a:pPr lvl="1"/>
            <a:endParaRPr lang="zh-CN" altLang="en-US" b="1" dirty="0"/>
          </a:p>
        </p:txBody>
      </p:sp>
    </p:spTree>
    <p:extLst>
      <p:ext uri="{BB962C8B-B14F-4D97-AF65-F5344CB8AC3E}">
        <p14:creationId xmlns:p14="http://schemas.microsoft.com/office/powerpoint/2010/main" val="441045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(3 of 13)</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Access Control Concepts</a:t>
            </a:r>
          </a:p>
          <a:p>
            <a:r>
              <a:rPr lang="en-US" altLang="en-US" b="1" dirty="0"/>
              <a:t>Identification</a:t>
            </a:r>
            <a:r>
              <a:rPr lang="en-US" altLang="en-US" dirty="0"/>
              <a:t> is the process of recognizing and distinguishing the user from any other user</a:t>
            </a:r>
          </a:p>
          <a:p>
            <a:pPr lvl="1"/>
            <a:r>
              <a:rPr lang="en-US" altLang="en-US" dirty="0"/>
              <a:t>Example: a delivery driver presenting employee badge</a:t>
            </a:r>
          </a:p>
          <a:p>
            <a:r>
              <a:rPr lang="en-US" altLang="en-US" b="1" dirty="0"/>
              <a:t>Authentication</a:t>
            </a:r>
            <a:r>
              <a:rPr lang="en-US" altLang="en-US" dirty="0"/>
              <a:t> is performed by checking the credentials</a:t>
            </a:r>
          </a:p>
          <a:p>
            <a:pPr lvl="1"/>
            <a:r>
              <a:rPr lang="en-US" altLang="en-US" dirty="0"/>
              <a:t>Example: examining the delivery driver’s badge</a:t>
            </a:r>
          </a:p>
          <a:p>
            <a:r>
              <a:rPr lang="en-US" altLang="en-US" b="1" dirty="0"/>
              <a:t>Authorization</a:t>
            </a:r>
            <a:r>
              <a:rPr lang="en-US" altLang="en-US" dirty="0"/>
              <a:t> is granting permission to take action</a:t>
            </a:r>
          </a:p>
          <a:p>
            <a:pPr lvl="1"/>
            <a:r>
              <a:rPr lang="en-US" altLang="en-US" dirty="0"/>
              <a:t>Example: allowing the delivery driver to pick up the package</a:t>
            </a:r>
          </a:p>
          <a:p>
            <a:r>
              <a:rPr lang="en-US" altLang="zh-CN" b="1" dirty="0"/>
              <a:t>Access</a:t>
            </a:r>
            <a:r>
              <a:rPr lang="en-US" altLang="zh-CN" dirty="0"/>
              <a:t> is the right given to access specific resources</a:t>
            </a:r>
          </a:p>
          <a:p>
            <a:r>
              <a:rPr lang="en-US" altLang="zh-CN" b="1" dirty="0"/>
              <a:t>Accounting</a:t>
            </a:r>
            <a:r>
              <a:rPr lang="en-US" altLang="zh-CN" dirty="0"/>
              <a:t> is a record that is preserved of who accessed the network, what resources they accessed, and when they disconnected from the network</a:t>
            </a:r>
          </a:p>
          <a:p>
            <a:pPr lvl="1"/>
            <a:endParaRPr lang="zh-CN" altLang="en-US" b="1" dirty="0"/>
          </a:p>
        </p:txBody>
      </p:sp>
    </p:spTree>
    <p:extLst>
      <p:ext uri="{BB962C8B-B14F-4D97-AF65-F5344CB8AC3E}">
        <p14:creationId xmlns:p14="http://schemas.microsoft.com/office/powerpoint/2010/main" val="35808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(4 of 13)</a:t>
            </a:r>
            <a:endParaRPr lang="zh-CN" altLang="en-US" dirty="0"/>
          </a:p>
        </p:txBody>
      </p:sp>
      <p:sp>
        <p:nvSpPr>
          <p:cNvPr id="3" name="Text Placeholder 2"/>
          <p:cNvSpPr>
            <a:spLocks noGrp="1"/>
          </p:cNvSpPr>
          <p:nvPr>
            <p:ph type="body" sz="quarter" idx="17"/>
          </p:nvPr>
        </p:nvSpPr>
        <p:spPr/>
        <p:txBody>
          <a:bodyPr>
            <a:normAutofit/>
          </a:bodyPr>
          <a:lstStyle/>
          <a:p>
            <a:r>
              <a:rPr lang="en-US" altLang="en-US" dirty="0"/>
              <a:t>Other terminology describes how computer systems impose technical access control:</a:t>
            </a:r>
          </a:p>
          <a:p>
            <a:pPr lvl="1"/>
            <a:r>
              <a:rPr lang="en-US" altLang="en-US" i="1" dirty="0"/>
              <a:t>Object</a:t>
            </a:r>
            <a:r>
              <a:rPr lang="en-US" altLang="en-US" dirty="0"/>
              <a:t> is a specific resource</a:t>
            </a:r>
          </a:p>
          <a:p>
            <a:pPr lvl="2"/>
            <a:r>
              <a:rPr lang="en-US" altLang="en-US" dirty="0"/>
              <a:t>Example: file or hardware device</a:t>
            </a:r>
          </a:p>
          <a:p>
            <a:pPr lvl="1"/>
            <a:r>
              <a:rPr lang="en-US" altLang="en-US" i="1" dirty="0"/>
              <a:t>Subject</a:t>
            </a:r>
            <a:r>
              <a:rPr lang="en-US" altLang="en-US" dirty="0"/>
              <a:t> is a user or process functioning on behalf of a user</a:t>
            </a:r>
          </a:p>
          <a:p>
            <a:pPr lvl="2"/>
            <a:r>
              <a:rPr lang="en-US" altLang="en-US" dirty="0"/>
              <a:t>Example: computer user</a:t>
            </a:r>
          </a:p>
          <a:p>
            <a:pPr lvl="1"/>
            <a:r>
              <a:rPr lang="en-US" altLang="en-US" i="1" dirty="0"/>
              <a:t>Operation</a:t>
            </a:r>
            <a:r>
              <a:rPr lang="en-US" altLang="en-US" dirty="0"/>
              <a:t> is the action taken by the subject over an object</a:t>
            </a:r>
          </a:p>
          <a:p>
            <a:pPr lvl="2"/>
            <a:r>
              <a:rPr lang="en-US" altLang="en-US" dirty="0"/>
              <a:t>Example: deleting a file</a:t>
            </a:r>
          </a:p>
          <a:p>
            <a:pPr lvl="1"/>
            <a:endParaRPr lang="zh-CN" altLang="en-US" b="1" dirty="0"/>
          </a:p>
        </p:txBody>
      </p:sp>
    </p:spTree>
    <p:extLst>
      <p:ext uri="{BB962C8B-B14F-4D97-AF65-F5344CB8AC3E}">
        <p14:creationId xmlns:p14="http://schemas.microsoft.com/office/powerpoint/2010/main" val="1770361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(5 of 13)</a:t>
            </a:r>
            <a:endParaRPr lang="zh-CN" altLang="en-US" dirty="0"/>
          </a:p>
        </p:txBody>
      </p:sp>
      <p:pic>
        <p:nvPicPr>
          <p:cNvPr id="5" name="Picture Placeholder 4" descr="An illustration listing selected technical control roles and terminology. The subject in the illustration is the end user who has to carry out an operation on a laptop in order to access an Excel file with the filename salary dot x l s x which is the object. The operation involves identification of the user with the username, M Wiley, authentication with a password, authorization which displays the welcome message, Welcome, M Wiley, and access which opens the document salary dot x l s x. The document or the object, salary dot x l s x has an owner and the file can be read only by department managers. The Privacy Officer decides that users can access the salary dot x l s x. The Custodian reviews security settings on salary dot x l s x."/>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571597" y="2783226"/>
            <a:ext cx="5334000" cy="2191512"/>
          </a:xfrm>
          <a:prstGeom prst="rect">
            <a:avLst/>
          </a:prstGeom>
          <a:noFill/>
          <a:ln>
            <a:noFill/>
          </a:ln>
        </p:spPr>
      </p:pic>
      <p:sp>
        <p:nvSpPr>
          <p:cNvPr id="4" name="Text Placeholder 3"/>
          <p:cNvSpPr>
            <a:spLocks noGrp="1"/>
          </p:cNvSpPr>
          <p:nvPr>
            <p:ph type="body" sz="quarter" idx="11"/>
          </p:nvPr>
        </p:nvSpPr>
        <p:spPr>
          <a:xfrm>
            <a:off x="7377394" y="4379877"/>
            <a:ext cx="3976406" cy="594861"/>
          </a:xfrm>
        </p:spPr>
        <p:txBody>
          <a:bodyPr/>
          <a:lstStyle/>
          <a:p>
            <a:r>
              <a:rPr lang="en-US" altLang="zh-CN" dirty="0"/>
              <a:t>Figure 13-1 Technical access control roles and terminology</a:t>
            </a:r>
            <a:endParaRPr lang="zh-CN" altLang="en-US" dirty="0"/>
          </a:p>
        </p:txBody>
      </p:sp>
    </p:spTree>
    <p:extLst>
      <p:ext uri="{BB962C8B-B14F-4D97-AF65-F5344CB8AC3E}">
        <p14:creationId xmlns:p14="http://schemas.microsoft.com/office/powerpoint/2010/main" val="1094277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(6 of 13)</a:t>
            </a:r>
            <a:endParaRPr lang="zh-CN" altLang="en-US" dirty="0"/>
          </a:p>
        </p:txBody>
      </p:sp>
      <p:sp>
        <p:nvSpPr>
          <p:cNvPr id="3" name="Text Placeholder 2"/>
          <p:cNvSpPr>
            <a:spLocks noGrp="1"/>
          </p:cNvSpPr>
          <p:nvPr>
            <p:ph type="body" sz="quarter" idx="17"/>
          </p:nvPr>
        </p:nvSpPr>
        <p:spPr/>
        <p:txBody>
          <a:bodyPr/>
          <a:lstStyle/>
          <a:p>
            <a:r>
              <a:rPr lang="en-US" altLang="zh-CN" dirty="0"/>
              <a:t>Access Control Schemes</a:t>
            </a:r>
          </a:p>
          <a:p>
            <a:pPr lvl="1">
              <a:defRPr/>
            </a:pPr>
            <a:r>
              <a:rPr lang="en-US" altLang="en-US" dirty="0"/>
              <a:t>Access control schemes are standards that provide a predefined framework for hardware or software developers</a:t>
            </a:r>
          </a:p>
          <a:p>
            <a:pPr lvl="1">
              <a:defRPr/>
            </a:pPr>
            <a:r>
              <a:rPr lang="en-US" altLang="en-US" dirty="0"/>
              <a:t>Use the appropriate scheme to configure the necessary level of control is part of </a:t>
            </a:r>
            <a:r>
              <a:rPr lang="en-US" altLang="en-US" b="1" dirty="0"/>
              <a:t>privileged access management</a:t>
            </a:r>
          </a:p>
          <a:p>
            <a:pPr>
              <a:defRPr/>
            </a:pPr>
            <a:r>
              <a:rPr lang="en-US" altLang="en-US" dirty="0"/>
              <a:t>There are five major access control schemes</a:t>
            </a:r>
          </a:p>
          <a:p>
            <a:pPr lvl="1">
              <a:defRPr/>
            </a:pPr>
            <a:r>
              <a:rPr lang="en-US" altLang="en-US" i="1" dirty="0"/>
              <a:t>Discretionary Access Control (DAC)</a:t>
            </a:r>
          </a:p>
          <a:p>
            <a:pPr lvl="1">
              <a:defRPr/>
            </a:pPr>
            <a:r>
              <a:rPr lang="en-US" altLang="en-US" i="1" dirty="0"/>
              <a:t>Mandatory Access Control (MAC)</a:t>
            </a:r>
          </a:p>
          <a:p>
            <a:pPr lvl="1">
              <a:defRPr/>
            </a:pPr>
            <a:r>
              <a:rPr lang="en-US" altLang="en-US" i="1" dirty="0"/>
              <a:t>Role Based Access Control (RBAC)</a:t>
            </a:r>
          </a:p>
          <a:p>
            <a:pPr lvl="1">
              <a:defRPr/>
            </a:pPr>
            <a:r>
              <a:rPr lang="en-US" altLang="en-US" i="1" dirty="0"/>
              <a:t>Rule Based Access Control </a:t>
            </a:r>
          </a:p>
          <a:p>
            <a:pPr lvl="1">
              <a:defRPr/>
            </a:pPr>
            <a:r>
              <a:rPr lang="en-US" altLang="en-US" i="1" dirty="0"/>
              <a:t>Attribute-Based Access Control (ABAC)</a:t>
            </a:r>
          </a:p>
          <a:p>
            <a:endParaRPr lang="zh-CN" altLang="en-US" dirty="0"/>
          </a:p>
        </p:txBody>
      </p:sp>
    </p:spTree>
    <p:extLst>
      <p:ext uri="{BB962C8B-B14F-4D97-AF65-F5344CB8AC3E}">
        <p14:creationId xmlns:p14="http://schemas.microsoft.com/office/powerpoint/2010/main" val="1526871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(7 of 13)</a:t>
            </a:r>
            <a:endParaRPr lang="zh-CN" altLang="en-US" dirty="0"/>
          </a:p>
        </p:txBody>
      </p:sp>
      <p:sp>
        <p:nvSpPr>
          <p:cNvPr id="3" name="Text Placeholder 2"/>
          <p:cNvSpPr>
            <a:spLocks noGrp="1"/>
          </p:cNvSpPr>
          <p:nvPr>
            <p:ph type="body" sz="quarter" idx="17"/>
          </p:nvPr>
        </p:nvSpPr>
        <p:spPr>
          <a:xfrm>
            <a:off x="743576" y="1638300"/>
            <a:ext cx="5415684" cy="4394200"/>
          </a:xfrm>
        </p:spPr>
        <p:txBody>
          <a:bodyPr>
            <a:normAutofit lnSpcReduction="10000"/>
          </a:bodyPr>
          <a:lstStyle/>
          <a:p>
            <a:pPr>
              <a:defRPr/>
            </a:pPr>
            <a:r>
              <a:rPr lang="en-US" altLang="en-US" b="1" dirty="0"/>
              <a:t>Discretionary Access Control </a:t>
            </a:r>
            <a:r>
              <a:rPr lang="en-US" altLang="en-US" dirty="0"/>
              <a:t>(</a:t>
            </a:r>
            <a:r>
              <a:rPr lang="en-US" altLang="en-US" b="1" dirty="0"/>
              <a:t>DAC</a:t>
            </a:r>
            <a:r>
              <a:rPr lang="en-US" altLang="en-US" dirty="0"/>
              <a:t>) scheme is the least restrictive</a:t>
            </a:r>
          </a:p>
          <a:p>
            <a:pPr lvl="1">
              <a:defRPr/>
            </a:pPr>
            <a:r>
              <a:rPr lang="en-US" altLang="en-US" dirty="0"/>
              <a:t>Every object has an owner who has total control over their objects</a:t>
            </a:r>
          </a:p>
          <a:p>
            <a:pPr lvl="1">
              <a:defRPr/>
            </a:pPr>
            <a:r>
              <a:rPr lang="en-US" altLang="en-US" dirty="0"/>
              <a:t>Owners can give permissions to other subjects over their objects</a:t>
            </a:r>
          </a:p>
          <a:p>
            <a:pPr lvl="1">
              <a:defRPr/>
            </a:pPr>
            <a:r>
              <a:rPr lang="en-US" altLang="en-US" dirty="0"/>
              <a:t>This scheme is used on major operating systems </a:t>
            </a:r>
          </a:p>
          <a:p>
            <a:pPr lvl="1">
              <a:defRPr/>
            </a:pPr>
            <a:r>
              <a:rPr lang="en-US" altLang="zh-CN" dirty="0"/>
              <a:t>DAC has two significant weaknesses:	</a:t>
            </a:r>
          </a:p>
          <a:p>
            <a:pPr lvl="2"/>
            <a:r>
              <a:rPr lang="en-US" altLang="zh-CN" dirty="0"/>
              <a:t>It poses a risk in that it relies on decision by the end user to set the proper level of security</a:t>
            </a:r>
          </a:p>
          <a:p>
            <a:pPr lvl="2"/>
            <a:r>
              <a:rPr lang="en-US" altLang="zh-CN" dirty="0"/>
              <a:t>A subject’s permissions will be “inherited” by any programs that the subject executes</a:t>
            </a:r>
          </a:p>
        </p:txBody>
      </p:sp>
      <p:pic>
        <p:nvPicPr>
          <p:cNvPr id="5" name="Picture 4">
            <a:extLst>
              <a:ext uri="{FF2B5EF4-FFF2-40B4-BE49-F238E27FC236}">
                <a16:creationId xmlns:a16="http://schemas.microsoft.com/office/drawing/2014/main" id="{C1344655-6976-847A-FD6B-9A04F1730F92}"/>
              </a:ext>
            </a:extLst>
          </p:cNvPr>
          <p:cNvPicPr>
            <a:picLocks noChangeAspect="1"/>
          </p:cNvPicPr>
          <p:nvPr/>
        </p:nvPicPr>
        <p:blipFill>
          <a:blip r:embed="rId2"/>
          <a:stretch>
            <a:fillRect/>
          </a:stretch>
        </p:blipFill>
        <p:spPr>
          <a:xfrm>
            <a:off x="6904009" y="1796873"/>
            <a:ext cx="4276373" cy="3264253"/>
          </a:xfrm>
          <a:prstGeom prst="rect">
            <a:avLst/>
          </a:prstGeom>
          <a:ln>
            <a:solidFill>
              <a:srgbClr val="00000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87903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(8 of 13)</a:t>
            </a:r>
            <a:endParaRPr lang="zh-CN" altLang="en-US" dirty="0"/>
          </a:p>
        </p:txBody>
      </p:sp>
      <p:sp>
        <p:nvSpPr>
          <p:cNvPr id="3" name="Text Placeholder 2"/>
          <p:cNvSpPr>
            <a:spLocks noGrp="1"/>
          </p:cNvSpPr>
          <p:nvPr>
            <p:ph type="body" sz="quarter" idx="17"/>
          </p:nvPr>
        </p:nvSpPr>
        <p:spPr>
          <a:xfrm>
            <a:off x="743577" y="1638300"/>
            <a:ext cx="5881510" cy="4394200"/>
          </a:xfrm>
        </p:spPr>
        <p:txBody>
          <a:bodyPr>
            <a:normAutofit fontScale="92500" lnSpcReduction="10000"/>
          </a:bodyPr>
          <a:lstStyle/>
          <a:p>
            <a:r>
              <a:rPr lang="en-US" altLang="en-US" b="1" dirty="0"/>
              <a:t>Mandatory Access Control </a:t>
            </a:r>
            <a:r>
              <a:rPr lang="en-US" altLang="en-US" dirty="0"/>
              <a:t>(</a:t>
            </a:r>
            <a:r>
              <a:rPr lang="en-US" altLang="en-US" b="1" dirty="0"/>
              <a:t>MAC</a:t>
            </a:r>
            <a:r>
              <a:rPr lang="en-US" altLang="en-US" dirty="0"/>
              <a:t>) is the most restrictive access control model</a:t>
            </a:r>
          </a:p>
          <a:p>
            <a:pPr lvl="1"/>
            <a:r>
              <a:rPr lang="en-US" altLang="en-US" dirty="0"/>
              <a:t>The user has no freedom to set any controls or distribute access to other subjects</a:t>
            </a:r>
          </a:p>
          <a:p>
            <a:pPr lvl="1"/>
            <a:r>
              <a:rPr lang="en-US" altLang="en-US" dirty="0"/>
              <a:t>There are two key elements to MAC:</a:t>
            </a:r>
          </a:p>
          <a:p>
            <a:pPr lvl="2"/>
            <a:r>
              <a:rPr lang="en-US" altLang="en-US" i="1" dirty="0"/>
              <a:t>Labels</a:t>
            </a:r>
            <a:r>
              <a:rPr lang="en-US" altLang="en-US" dirty="0"/>
              <a:t> - Every entity is an object and is assigned a classification label that represents the relative importance of the object</a:t>
            </a:r>
          </a:p>
          <a:p>
            <a:pPr lvl="2"/>
            <a:r>
              <a:rPr lang="en-US" altLang="en-US" i="1" dirty="0"/>
              <a:t>Levels</a:t>
            </a:r>
            <a:r>
              <a:rPr lang="en-US" altLang="en-US" dirty="0"/>
              <a:t> - a hierarchy based on the labels is used </a:t>
            </a:r>
          </a:p>
          <a:p>
            <a:pPr lvl="1"/>
            <a:r>
              <a:rPr lang="en-US" altLang="en-US" dirty="0"/>
              <a:t>MAC grants permissions by matching object labels with subject labels</a:t>
            </a:r>
          </a:p>
          <a:p>
            <a:pPr lvl="2"/>
            <a:r>
              <a:rPr lang="en-US" altLang="en-US" dirty="0"/>
              <a:t>The labels indicate level of privilege</a:t>
            </a:r>
          </a:p>
          <a:p>
            <a:pPr lvl="1"/>
            <a:r>
              <a:rPr lang="en-US" altLang="en-US" dirty="0"/>
              <a:t>Microsoft Windows uses a MAC implementation called </a:t>
            </a:r>
            <a:r>
              <a:rPr lang="en-US" altLang="en-US" i="1" dirty="0"/>
              <a:t>Mandatory Integrity Control (MIC)</a:t>
            </a:r>
          </a:p>
          <a:p>
            <a:pPr lvl="2"/>
            <a:endParaRPr lang="en-US" altLang="en-US" dirty="0"/>
          </a:p>
        </p:txBody>
      </p:sp>
      <p:pic>
        <p:nvPicPr>
          <p:cNvPr id="5" name="Picture 4">
            <a:extLst>
              <a:ext uri="{FF2B5EF4-FFF2-40B4-BE49-F238E27FC236}">
                <a16:creationId xmlns:a16="http://schemas.microsoft.com/office/drawing/2014/main" id="{D2F3BB7F-A6CB-8E48-EE8F-0733CD68B2E3}"/>
              </a:ext>
            </a:extLst>
          </p:cNvPr>
          <p:cNvPicPr>
            <a:picLocks noChangeAspect="1"/>
          </p:cNvPicPr>
          <p:nvPr/>
        </p:nvPicPr>
        <p:blipFill>
          <a:blip r:embed="rId2"/>
          <a:stretch>
            <a:fillRect/>
          </a:stretch>
        </p:blipFill>
        <p:spPr>
          <a:xfrm>
            <a:off x="6719977" y="1571339"/>
            <a:ext cx="4554747" cy="4261343"/>
          </a:xfrm>
          <a:prstGeom prst="rect">
            <a:avLst/>
          </a:prstGeom>
          <a:ln>
            <a:solidFill>
              <a:srgbClr val="00000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421123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(9 of 13)</a:t>
            </a:r>
            <a:endParaRPr lang="zh-CN" altLang="en-US" dirty="0"/>
          </a:p>
        </p:txBody>
      </p:sp>
      <p:sp>
        <p:nvSpPr>
          <p:cNvPr id="3" name="Text Placeholder 2"/>
          <p:cNvSpPr>
            <a:spLocks noGrp="1"/>
          </p:cNvSpPr>
          <p:nvPr>
            <p:ph type="body" sz="quarter" idx="17"/>
          </p:nvPr>
        </p:nvSpPr>
        <p:spPr>
          <a:xfrm>
            <a:off x="743576" y="1638300"/>
            <a:ext cx="4889473" cy="4394200"/>
          </a:xfrm>
        </p:spPr>
        <p:txBody>
          <a:bodyPr/>
          <a:lstStyle/>
          <a:p>
            <a:r>
              <a:rPr lang="en-US" altLang="en-US" b="1" dirty="0"/>
              <a:t>Role-Based Access Control </a:t>
            </a:r>
            <a:r>
              <a:rPr lang="en-US" altLang="en-US" dirty="0"/>
              <a:t>(</a:t>
            </a:r>
            <a:r>
              <a:rPr lang="en-US" altLang="en-US" b="1" dirty="0"/>
              <a:t>RBAC</a:t>
            </a:r>
            <a:r>
              <a:rPr lang="en-US" altLang="en-US" dirty="0"/>
              <a:t>) is sometimes called </a:t>
            </a:r>
            <a:r>
              <a:rPr lang="en-US" altLang="en-US" i="1" dirty="0"/>
              <a:t>Non-Discretionary Access Control</a:t>
            </a:r>
          </a:p>
          <a:p>
            <a:pPr lvl="1"/>
            <a:r>
              <a:rPr lang="en-US" altLang="en-US" dirty="0"/>
              <a:t>Access permissions are based on the user’s job function</a:t>
            </a:r>
          </a:p>
          <a:p>
            <a:pPr lvl="1"/>
            <a:r>
              <a:rPr lang="en-US" altLang="en-US" dirty="0"/>
              <a:t>RBAC assigns permissions to particular roles in an organization</a:t>
            </a:r>
          </a:p>
          <a:p>
            <a:pPr lvl="2"/>
            <a:r>
              <a:rPr lang="en-US" altLang="en-US" dirty="0"/>
              <a:t>Users are then assigned to those roles</a:t>
            </a:r>
          </a:p>
          <a:p>
            <a:pPr lvl="1"/>
            <a:r>
              <a:rPr lang="en-US" altLang="zh-CN" dirty="0"/>
              <a:t>Objects are set to be a certain type, to which subjects with that particular role have access</a:t>
            </a:r>
          </a:p>
          <a:p>
            <a:pPr lvl="2"/>
            <a:endParaRPr lang="en-US" altLang="en-US" dirty="0"/>
          </a:p>
        </p:txBody>
      </p:sp>
      <p:pic>
        <p:nvPicPr>
          <p:cNvPr id="5" name="Picture 4">
            <a:extLst>
              <a:ext uri="{FF2B5EF4-FFF2-40B4-BE49-F238E27FC236}">
                <a16:creationId xmlns:a16="http://schemas.microsoft.com/office/drawing/2014/main" id="{E0DAA01D-A7EB-00AA-9E7B-3195EFEE4D1B}"/>
              </a:ext>
            </a:extLst>
          </p:cNvPr>
          <p:cNvPicPr>
            <a:picLocks noChangeAspect="1"/>
          </p:cNvPicPr>
          <p:nvPr/>
        </p:nvPicPr>
        <p:blipFill>
          <a:blip r:embed="rId2"/>
          <a:stretch>
            <a:fillRect/>
          </a:stretch>
        </p:blipFill>
        <p:spPr>
          <a:xfrm>
            <a:off x="5891091" y="1449459"/>
            <a:ext cx="5771142" cy="4123205"/>
          </a:xfrm>
          <a:prstGeom prst="rect">
            <a:avLst/>
          </a:prstGeom>
          <a:ln>
            <a:solidFill>
              <a:srgbClr val="00000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404317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(10 of 13)</a:t>
            </a:r>
            <a:endParaRPr lang="zh-CN" altLang="en-US" dirty="0"/>
          </a:p>
        </p:txBody>
      </p:sp>
      <p:sp>
        <p:nvSpPr>
          <p:cNvPr id="3" name="Text Placeholder 2"/>
          <p:cNvSpPr>
            <a:spLocks noGrp="1"/>
          </p:cNvSpPr>
          <p:nvPr>
            <p:ph type="body" sz="quarter" idx="17"/>
          </p:nvPr>
        </p:nvSpPr>
        <p:spPr/>
        <p:txBody>
          <a:bodyPr/>
          <a:lstStyle/>
          <a:p>
            <a:r>
              <a:rPr lang="en-US" altLang="zh-CN" b="1" dirty="0"/>
              <a:t>Rule-Based Access Control </a:t>
            </a:r>
            <a:r>
              <a:rPr lang="en-US" altLang="zh-CN" dirty="0"/>
              <a:t>is also called </a:t>
            </a:r>
            <a:r>
              <a:rPr lang="en-US" altLang="zh-CN" i="1" dirty="0"/>
              <a:t>Rule-Based Role-Based Access Control </a:t>
            </a:r>
            <a:r>
              <a:rPr lang="en-US" altLang="zh-CN" dirty="0"/>
              <a:t>(</a:t>
            </a:r>
            <a:r>
              <a:rPr lang="en-US" altLang="zh-CN" i="1" dirty="0"/>
              <a:t>RB-RBAC</a:t>
            </a:r>
            <a:r>
              <a:rPr lang="en-US" altLang="zh-CN" dirty="0"/>
              <a:t>)</a:t>
            </a:r>
          </a:p>
          <a:p>
            <a:pPr marL="171450" lvl="1">
              <a:spcBef>
                <a:spcPts val="1200"/>
              </a:spcBef>
              <a:buClr>
                <a:schemeClr val="accent2"/>
              </a:buClr>
            </a:pPr>
            <a:r>
              <a:rPr lang="en-US" altLang="en-US" dirty="0"/>
              <a:t>Dynamically assigns roles to subjects based on a set of rules defined by a custodian</a:t>
            </a:r>
          </a:p>
          <a:p>
            <a:r>
              <a:rPr lang="en-US" altLang="en-US" dirty="0"/>
              <a:t>Each resource object contains access properties based on the rules</a:t>
            </a:r>
          </a:p>
          <a:p>
            <a:r>
              <a:rPr lang="en-US" altLang="en-US" dirty="0"/>
              <a:t>When a user attempts access, the system checks the object’s rules to determine access permission</a:t>
            </a:r>
          </a:p>
          <a:p>
            <a:r>
              <a:rPr lang="en-US" altLang="en-US" dirty="0"/>
              <a:t>Often used for managing user access to one or more systems</a:t>
            </a:r>
          </a:p>
          <a:p>
            <a:pPr lvl="1"/>
            <a:r>
              <a:rPr lang="en-US" altLang="en-US" dirty="0"/>
              <a:t>Business changes may trigger application of the rules specifying access changes</a:t>
            </a:r>
          </a:p>
          <a:p>
            <a:endParaRPr lang="en-US" altLang="zh-CN" dirty="0"/>
          </a:p>
          <a:p>
            <a:pPr lvl="2"/>
            <a:endParaRPr lang="en-US" altLang="en-US" dirty="0"/>
          </a:p>
        </p:txBody>
      </p:sp>
    </p:spTree>
    <p:extLst>
      <p:ext uri="{BB962C8B-B14F-4D97-AF65-F5344CB8AC3E}">
        <p14:creationId xmlns:p14="http://schemas.microsoft.com/office/powerpoint/2010/main" val="1168712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(11 of 13)</a:t>
            </a:r>
            <a:endParaRPr lang="zh-CN" altLang="en-US" dirty="0"/>
          </a:p>
        </p:txBody>
      </p:sp>
      <p:sp>
        <p:nvSpPr>
          <p:cNvPr id="3" name="Text Placeholder 2"/>
          <p:cNvSpPr>
            <a:spLocks noGrp="1"/>
          </p:cNvSpPr>
          <p:nvPr>
            <p:ph type="body" sz="quarter" idx="17"/>
          </p:nvPr>
        </p:nvSpPr>
        <p:spPr/>
        <p:txBody>
          <a:bodyPr/>
          <a:lstStyle/>
          <a:p>
            <a:r>
              <a:rPr lang="en-US" altLang="zh-CN" b="1" dirty="0"/>
              <a:t>Attribute-Based Access Control </a:t>
            </a:r>
            <a:r>
              <a:rPr lang="en-US" altLang="zh-CN" dirty="0"/>
              <a:t>(</a:t>
            </a:r>
            <a:r>
              <a:rPr lang="en-US" altLang="zh-CN" b="1" dirty="0"/>
              <a:t>ABAC</a:t>
            </a:r>
            <a:r>
              <a:rPr lang="en-US" altLang="zh-CN" dirty="0"/>
              <a:t>) uses more flexible polices than Rule-Based AC </a:t>
            </a:r>
          </a:p>
          <a:p>
            <a:pPr lvl="1"/>
            <a:r>
              <a:rPr lang="en-US" altLang="zh-CN" dirty="0"/>
              <a:t>ABAC can combine attributes</a:t>
            </a:r>
          </a:p>
          <a:p>
            <a:pPr lvl="1"/>
            <a:r>
              <a:rPr lang="en-US" altLang="zh-CN" dirty="0"/>
              <a:t>Policies can take advantage of attributes such as:</a:t>
            </a:r>
          </a:p>
          <a:p>
            <a:pPr lvl="2"/>
            <a:r>
              <a:rPr lang="en-US" altLang="zh-CN" dirty="0"/>
              <a:t>Object attributes</a:t>
            </a:r>
          </a:p>
          <a:p>
            <a:pPr lvl="2"/>
            <a:r>
              <a:rPr lang="en-US" altLang="zh-CN" dirty="0"/>
              <a:t>Subject attributes</a:t>
            </a:r>
          </a:p>
          <a:p>
            <a:pPr lvl="2"/>
            <a:r>
              <a:rPr lang="en-US" altLang="zh-CN" dirty="0"/>
              <a:t>Environment attributes</a:t>
            </a:r>
          </a:p>
          <a:p>
            <a:pPr lvl="1"/>
            <a:r>
              <a:rPr lang="en-US" altLang="zh-CN" dirty="0"/>
              <a:t>ABAC rules can be formatted using an </a:t>
            </a:r>
            <a:r>
              <a:rPr lang="en-US" altLang="zh-CN" i="1" dirty="0"/>
              <a:t>If-Then-Else</a:t>
            </a:r>
            <a:r>
              <a:rPr lang="en-US" altLang="zh-CN" dirty="0"/>
              <a:t> structure</a:t>
            </a:r>
          </a:p>
          <a:p>
            <a:endParaRPr lang="en-US" altLang="zh-CN" dirty="0"/>
          </a:p>
          <a:p>
            <a:pPr lvl="2"/>
            <a:endParaRPr lang="en-US" altLang="en-US" dirty="0"/>
          </a:p>
        </p:txBody>
      </p:sp>
    </p:spTree>
    <p:extLst>
      <p:ext uri="{BB962C8B-B14F-4D97-AF65-F5344CB8AC3E}">
        <p14:creationId xmlns:p14="http://schemas.microsoft.com/office/powerpoint/2010/main" val="862092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(12 of 13)</a:t>
            </a:r>
            <a:endParaRPr lang="zh-CN" altLang="en-US" dirty="0"/>
          </a:p>
        </p:txBody>
      </p:sp>
      <p:sp>
        <p:nvSpPr>
          <p:cNvPr id="3" name="Text Placeholder 2"/>
          <p:cNvSpPr>
            <a:spLocks noGrp="1"/>
          </p:cNvSpPr>
          <p:nvPr>
            <p:ph type="body" sz="quarter" idx="17"/>
          </p:nvPr>
        </p:nvSpPr>
        <p:spPr>
          <a:xfrm>
            <a:off x="743576" y="1638300"/>
            <a:ext cx="6511239" cy="4394200"/>
          </a:xfrm>
        </p:spPr>
        <p:txBody>
          <a:bodyPr>
            <a:normAutofit lnSpcReduction="10000"/>
          </a:bodyPr>
          <a:lstStyle/>
          <a:p>
            <a:r>
              <a:rPr lang="en-US" altLang="en-US" b="1" dirty="0"/>
              <a:t>Access Control Lists (ACLs)</a:t>
            </a:r>
          </a:p>
          <a:p>
            <a:pPr lvl="1"/>
            <a:r>
              <a:rPr lang="en-US" altLang="en-US" dirty="0"/>
              <a:t>An ACL is a set of permissions attached to an object</a:t>
            </a:r>
          </a:p>
          <a:p>
            <a:r>
              <a:rPr lang="en-US" altLang="en-US" dirty="0"/>
              <a:t>An ACL specifies which subjects may access the object and what operations they can perform</a:t>
            </a:r>
          </a:p>
          <a:p>
            <a:r>
              <a:rPr lang="en-US" altLang="en-US" dirty="0"/>
              <a:t>When a subject requests to perform an operation on an object, the system checks the ACL for an approved entry</a:t>
            </a:r>
          </a:p>
          <a:p>
            <a:r>
              <a:rPr lang="en-US" altLang="en-US" dirty="0"/>
              <a:t>ACLs are usually viewed in relation to operating system files</a:t>
            </a:r>
          </a:p>
          <a:p>
            <a:r>
              <a:rPr lang="en-US" altLang="zh-CN" dirty="0"/>
              <a:t>ACLs provide </a:t>
            </a:r>
            <a:r>
              <a:rPr lang="en-US" altLang="zh-CN" b="1" dirty="0"/>
              <a:t>file system permissions </a:t>
            </a:r>
            <a:r>
              <a:rPr lang="en-US" altLang="zh-CN" dirty="0"/>
              <a:t>for protecting files managed by the OS</a:t>
            </a:r>
          </a:p>
          <a:p>
            <a:r>
              <a:rPr lang="en-US" altLang="zh-CN" dirty="0"/>
              <a:t>ACL have also been ported to SQL and relational database systems so that ACLs can provide database security</a:t>
            </a:r>
          </a:p>
          <a:p>
            <a:endParaRPr lang="zh-CN" altLang="en-US" dirty="0"/>
          </a:p>
        </p:txBody>
      </p:sp>
      <p:pic>
        <p:nvPicPr>
          <p:cNvPr id="5" name="Picture 4">
            <a:extLst>
              <a:ext uri="{FF2B5EF4-FFF2-40B4-BE49-F238E27FC236}">
                <a16:creationId xmlns:a16="http://schemas.microsoft.com/office/drawing/2014/main" id="{1E33833D-1243-5F9E-B20A-B7956E11CA0E}"/>
              </a:ext>
            </a:extLst>
          </p:cNvPr>
          <p:cNvPicPr>
            <a:picLocks noChangeAspect="1"/>
          </p:cNvPicPr>
          <p:nvPr/>
        </p:nvPicPr>
        <p:blipFill>
          <a:blip r:embed="rId2"/>
          <a:stretch>
            <a:fillRect/>
          </a:stretch>
        </p:blipFill>
        <p:spPr>
          <a:xfrm>
            <a:off x="7581543" y="1339271"/>
            <a:ext cx="3772257" cy="4553452"/>
          </a:xfrm>
          <a:prstGeom prst="rect">
            <a:avLst/>
          </a:prstGeom>
        </p:spPr>
      </p:pic>
    </p:spTree>
    <p:extLst>
      <p:ext uri="{BB962C8B-B14F-4D97-AF65-F5344CB8AC3E}">
        <p14:creationId xmlns:p14="http://schemas.microsoft.com/office/powerpoint/2010/main" val="227256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(13 of 13)</a:t>
            </a:r>
            <a:endParaRPr lang="zh-CN" altLang="en-US" dirty="0"/>
          </a:p>
        </p:txBody>
      </p:sp>
      <p:sp>
        <p:nvSpPr>
          <p:cNvPr id="3" name="Text Placeholder 2"/>
          <p:cNvSpPr>
            <a:spLocks noGrp="1"/>
          </p:cNvSpPr>
          <p:nvPr>
            <p:ph type="body" sz="quarter" idx="17"/>
          </p:nvPr>
        </p:nvSpPr>
        <p:spPr/>
        <p:txBody>
          <a:bodyPr/>
          <a:lstStyle/>
          <a:p>
            <a:r>
              <a:rPr lang="en-US" altLang="zh-CN" dirty="0"/>
              <a:t>The following are limitations of ACLs:</a:t>
            </a:r>
          </a:p>
          <a:p>
            <a:pPr lvl="1"/>
            <a:r>
              <a:rPr lang="en-US" altLang="zh-CN" dirty="0"/>
              <a:t>Using ACLs is not efficient</a:t>
            </a:r>
          </a:p>
          <a:p>
            <a:pPr lvl="1"/>
            <a:r>
              <a:rPr lang="en-US" altLang="zh-CN" dirty="0"/>
              <a:t>ACLs can be difficult to manage in an enterprise setting where many users need to have different levels of access to many different resources</a:t>
            </a:r>
          </a:p>
          <a:p>
            <a:pPr lvl="2"/>
            <a:r>
              <a:rPr lang="en-US" altLang="zh-CN" dirty="0"/>
              <a:t>Adding, deleting, and changing ACLs on individual files can be time consuming and open to errors</a:t>
            </a:r>
          </a:p>
          <a:p>
            <a:endParaRPr lang="zh-CN" altLang="en-US" dirty="0"/>
          </a:p>
        </p:txBody>
      </p:sp>
    </p:spTree>
    <p:extLst>
      <p:ext uri="{BB962C8B-B14F-4D97-AF65-F5344CB8AC3E}">
        <p14:creationId xmlns:p14="http://schemas.microsoft.com/office/powerpoint/2010/main" val="3456942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(1 of 4)</a:t>
            </a:r>
            <a:endParaRPr lang="zh-CN" altLang="en-US" dirty="0"/>
          </a:p>
        </p:txBody>
      </p:sp>
      <p:sp>
        <p:nvSpPr>
          <p:cNvPr id="3" name="Text Placeholder 2"/>
          <p:cNvSpPr>
            <a:spLocks noGrp="1"/>
          </p:cNvSpPr>
          <p:nvPr>
            <p:ph type="body" sz="quarter" idx="17"/>
          </p:nvPr>
        </p:nvSpPr>
        <p:spPr/>
        <p:txBody>
          <a:bodyPr/>
          <a:lstStyle/>
          <a:p>
            <a:r>
              <a:rPr lang="en-US" altLang="zh-CN" dirty="0"/>
              <a:t>Creating an Incident Response Plan</a:t>
            </a:r>
          </a:p>
          <a:p>
            <a:pPr lvl="1"/>
            <a:r>
              <a:rPr lang="en-US" altLang="zh-CN" dirty="0"/>
              <a:t>An </a:t>
            </a:r>
            <a:r>
              <a:rPr lang="en-US" altLang="zh-CN" b="1" dirty="0"/>
              <a:t>incident response plan </a:t>
            </a:r>
            <a:r>
              <a:rPr lang="en-US" altLang="zh-CN" dirty="0"/>
              <a:t>(</a:t>
            </a:r>
            <a:r>
              <a:rPr lang="en-US" altLang="zh-CN" b="1" dirty="0"/>
              <a:t>IRP</a:t>
            </a:r>
            <a:r>
              <a:rPr lang="en-US" altLang="zh-CN" dirty="0"/>
              <a:t>) is a set of written instructions for reacting to a security incident</a:t>
            </a:r>
          </a:p>
          <a:p>
            <a:pPr lvl="1"/>
            <a:r>
              <a:rPr lang="en-US" altLang="zh-CN" dirty="0"/>
              <a:t>An </a:t>
            </a:r>
            <a:r>
              <a:rPr lang="en-US" altLang="zh-CN" b="1" dirty="0"/>
              <a:t>incident response process </a:t>
            </a:r>
            <a:r>
              <a:rPr lang="en-US" altLang="zh-CN" dirty="0"/>
              <a:t>includes six action steps to be taken when an incident occurs:</a:t>
            </a:r>
          </a:p>
          <a:p>
            <a:pPr lvl="2"/>
            <a:r>
              <a:rPr lang="en-US" altLang="zh-CN" dirty="0"/>
              <a:t>Preparation</a:t>
            </a:r>
          </a:p>
          <a:p>
            <a:pPr lvl="2"/>
            <a:r>
              <a:rPr lang="en-US" altLang="zh-CN" dirty="0"/>
              <a:t>Identification</a:t>
            </a:r>
          </a:p>
          <a:p>
            <a:pPr lvl="2"/>
            <a:r>
              <a:rPr lang="en-US" altLang="zh-CN" dirty="0"/>
              <a:t>Containment</a:t>
            </a:r>
          </a:p>
          <a:p>
            <a:pPr lvl="2"/>
            <a:r>
              <a:rPr lang="en-US" altLang="zh-CN" dirty="0"/>
              <a:t>Eradication</a:t>
            </a:r>
          </a:p>
          <a:p>
            <a:pPr lvl="2"/>
            <a:r>
              <a:rPr lang="en-US" altLang="zh-CN" dirty="0"/>
              <a:t>Recovery</a:t>
            </a:r>
          </a:p>
          <a:p>
            <a:pPr lvl="2"/>
            <a:r>
              <a:rPr lang="en-US" altLang="zh-CN" dirty="0"/>
              <a:t>Lessons learned</a:t>
            </a:r>
          </a:p>
          <a:p>
            <a:endParaRPr lang="zh-CN" altLang="en-US" dirty="0"/>
          </a:p>
        </p:txBody>
      </p:sp>
    </p:spTree>
    <p:extLst>
      <p:ext uri="{BB962C8B-B14F-4D97-AF65-F5344CB8AC3E}">
        <p14:creationId xmlns:p14="http://schemas.microsoft.com/office/powerpoint/2010/main" val="1550464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(2 of 4)</a:t>
            </a:r>
            <a:endParaRPr lang="zh-CN" altLang="en-US" dirty="0"/>
          </a:p>
        </p:txBody>
      </p:sp>
      <p:sp>
        <p:nvSpPr>
          <p:cNvPr id="3" name="Text Placeholder 2"/>
          <p:cNvSpPr>
            <a:spLocks noGrp="1"/>
          </p:cNvSpPr>
          <p:nvPr>
            <p:ph type="body" sz="quarter" idx="17"/>
          </p:nvPr>
        </p:nvSpPr>
        <p:spPr/>
        <p:txBody>
          <a:bodyPr/>
          <a:lstStyle/>
          <a:p>
            <a:r>
              <a:rPr lang="en-US" altLang="zh-CN" dirty="0"/>
              <a:t>At a minimum, an IRP should contain the following:</a:t>
            </a:r>
          </a:p>
          <a:p>
            <a:pPr lvl="1"/>
            <a:r>
              <a:rPr lang="en-US" altLang="zh-CN" dirty="0"/>
              <a:t>Documented incident definitions</a:t>
            </a:r>
          </a:p>
          <a:p>
            <a:pPr lvl="1"/>
            <a:r>
              <a:rPr lang="en-US" altLang="zh-CN" dirty="0"/>
              <a:t>Incident response teams</a:t>
            </a:r>
          </a:p>
          <a:p>
            <a:pPr lvl="1"/>
            <a:r>
              <a:rPr lang="en-US" altLang="zh-CN" dirty="0"/>
              <a:t>Reporting requirements/escalation</a:t>
            </a:r>
          </a:p>
          <a:p>
            <a:pPr lvl="1"/>
            <a:r>
              <a:rPr lang="en-US" altLang="zh-CN" dirty="0"/>
              <a:t>Retention policy</a:t>
            </a:r>
          </a:p>
          <a:p>
            <a:pPr lvl="1"/>
            <a:r>
              <a:rPr lang="en-US" altLang="zh-CN" dirty="0"/>
              <a:t>Stakeholder management</a:t>
            </a:r>
          </a:p>
          <a:p>
            <a:pPr lvl="1"/>
            <a:r>
              <a:rPr lang="en-US" altLang="zh-CN" dirty="0"/>
              <a:t>Communication plan</a:t>
            </a:r>
          </a:p>
        </p:txBody>
      </p:sp>
    </p:spTree>
    <p:extLst>
      <p:ext uri="{BB962C8B-B14F-4D97-AF65-F5344CB8AC3E}">
        <p14:creationId xmlns:p14="http://schemas.microsoft.com/office/powerpoint/2010/main" val="3849800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(3 of 4)</a:t>
            </a:r>
            <a:br>
              <a:rPr lang="en-US" altLang="zh-CN" dirty="0"/>
            </a:b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957282351"/>
              </p:ext>
            </p:extLst>
          </p:nvPr>
        </p:nvGraphicFramePr>
        <p:xfrm>
          <a:off x="1760393" y="1624446"/>
          <a:ext cx="8127999" cy="3571240"/>
        </p:xfrm>
        <a:graphic>
          <a:graphicData uri="http://schemas.openxmlformats.org/drawingml/2006/table">
            <a:tbl>
              <a:tblPr firstRow="1" bandRow="1">
                <a:tableStyleId>{5C22544A-7EE6-4342-B048-85BDC9FD1C3A}</a:tableStyleId>
              </a:tblPr>
              <a:tblGrid>
                <a:gridCol w="1336098">
                  <a:extLst>
                    <a:ext uri="{9D8B030D-6E8A-4147-A177-3AD203B41FA5}">
                      <a16:colId xmlns:a16="http://schemas.microsoft.com/office/drawing/2014/main" val="20000"/>
                    </a:ext>
                  </a:extLst>
                </a:gridCol>
                <a:gridCol w="2795154">
                  <a:extLst>
                    <a:ext uri="{9D8B030D-6E8A-4147-A177-3AD203B41FA5}">
                      <a16:colId xmlns:a16="http://schemas.microsoft.com/office/drawing/2014/main" val="20001"/>
                    </a:ext>
                  </a:extLst>
                </a:gridCol>
                <a:gridCol w="3996747">
                  <a:extLst>
                    <a:ext uri="{9D8B030D-6E8A-4147-A177-3AD203B41FA5}">
                      <a16:colId xmlns:a16="http://schemas.microsoft.com/office/drawing/2014/main" val="20002"/>
                    </a:ext>
                  </a:extLst>
                </a:gridCol>
              </a:tblGrid>
              <a:tr h="370840">
                <a:tc>
                  <a:txBody>
                    <a:bodyPr/>
                    <a:lstStyle/>
                    <a:p>
                      <a:r>
                        <a:rPr lang="en-US" altLang="zh-CN" sz="1400" dirty="0"/>
                        <a:t>Exercise Name</a:t>
                      </a:r>
                      <a:endParaRPr lang="zh-CN" altLang="en-US" sz="1400" dirty="0"/>
                    </a:p>
                  </a:txBody>
                  <a:tcPr/>
                </a:tc>
                <a:tc>
                  <a:txBody>
                    <a:bodyPr/>
                    <a:lstStyle/>
                    <a:p>
                      <a:r>
                        <a:rPr lang="en-US" altLang="zh-CN" sz="1400" dirty="0"/>
                        <a:t>Description</a:t>
                      </a:r>
                      <a:endParaRPr lang="zh-CN" altLang="en-US" sz="1400" dirty="0"/>
                    </a:p>
                  </a:txBody>
                  <a:tcPr/>
                </a:tc>
                <a:tc>
                  <a:txBody>
                    <a:bodyPr/>
                    <a:lstStyle/>
                    <a:p>
                      <a:r>
                        <a:rPr lang="en-US" altLang="zh-CN" sz="1400" dirty="0"/>
                        <a:t>Example</a:t>
                      </a:r>
                      <a:endParaRPr lang="zh-CN" altLang="en-US" sz="1400" dirty="0"/>
                    </a:p>
                  </a:txBody>
                  <a:tcPr/>
                </a:tc>
                <a:extLst>
                  <a:ext uri="{0D108BD9-81ED-4DB2-BD59-A6C34878D82A}">
                    <a16:rowId xmlns:a16="http://schemas.microsoft.com/office/drawing/2014/main" val="10000"/>
                  </a:ext>
                </a:extLst>
              </a:tr>
              <a:tr h="370840">
                <a:tc>
                  <a:txBody>
                    <a:bodyPr/>
                    <a:lstStyle/>
                    <a:p>
                      <a:r>
                        <a:rPr lang="en-US" altLang="zh-CN" sz="1200" dirty="0"/>
                        <a:t>Tabletop</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monthly 30-minute discussion of a scenario</a:t>
                      </a:r>
                    </a:p>
                    <a:p>
                      <a:r>
                        <a:rPr lang="en-US" altLang="zh-CN" sz="1200" b="0" i="0" u="none" strike="noStrike" kern="1200" baseline="0" dirty="0">
                          <a:solidFill>
                            <a:schemeClr val="dk1"/>
                          </a:solidFill>
                          <a:latin typeface="+mn-lt"/>
                          <a:ea typeface="+mn-ea"/>
                          <a:cs typeface="+mn-cs"/>
                        </a:rPr>
                        <a:t>conducted in an informal and stress-free</a:t>
                      </a:r>
                    </a:p>
                    <a:p>
                      <a:r>
                        <a:rPr lang="en-US" altLang="zh-CN" sz="1200" b="0" i="0" u="none" strike="noStrike" kern="1200" baseline="0" dirty="0">
                          <a:solidFill>
                            <a:schemeClr val="dk1"/>
                          </a:solidFill>
                          <a:latin typeface="+mn-lt"/>
                          <a:ea typeface="+mn-ea"/>
                          <a:cs typeface="+mn-cs"/>
                        </a:rPr>
                        <a:t>environment.</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This scenario is presented: An employee casually</a:t>
                      </a:r>
                    </a:p>
                    <a:p>
                      <a:r>
                        <a:rPr lang="en-US" altLang="zh-CN" sz="1200" b="0" i="0" u="none" strike="noStrike" kern="1200" baseline="0" dirty="0">
                          <a:solidFill>
                            <a:schemeClr val="dk1"/>
                          </a:solidFill>
                          <a:latin typeface="+mn-lt"/>
                          <a:ea typeface="+mn-ea"/>
                          <a:cs typeface="+mn-cs"/>
                        </a:rPr>
                        <a:t>remarks about how generous it is of a vendor to</a:t>
                      </a:r>
                    </a:p>
                    <a:p>
                      <a:r>
                        <a:rPr lang="en-US" altLang="zh-CN" sz="1200" b="0" i="0" u="none" strike="noStrike" kern="1200" baseline="0" dirty="0">
                          <a:solidFill>
                            <a:schemeClr val="dk1"/>
                          </a:solidFill>
                          <a:latin typeface="+mn-lt"/>
                          <a:ea typeface="+mn-ea"/>
                          <a:cs typeface="+mn-cs"/>
                        </a:rPr>
                        <a:t>provide the box of USB drives on the conference</a:t>
                      </a:r>
                    </a:p>
                    <a:p>
                      <a:r>
                        <a:rPr lang="en-US" altLang="zh-CN" sz="1200" b="0" i="0" u="none" strike="noStrike" kern="1200" baseline="0" dirty="0">
                          <a:solidFill>
                            <a:schemeClr val="dk1"/>
                          </a:solidFill>
                          <a:latin typeface="+mn-lt"/>
                          <a:ea typeface="+mn-ea"/>
                          <a:cs typeface="+mn-cs"/>
                        </a:rPr>
                        <a:t>room table, embossed with the company logo.</a:t>
                      </a:r>
                    </a:p>
                    <a:p>
                      <a:r>
                        <a:rPr lang="en-US" altLang="zh-CN" sz="1200" b="0" i="0" u="none" strike="noStrike" kern="1200" baseline="0" dirty="0">
                          <a:solidFill>
                            <a:schemeClr val="dk1"/>
                          </a:solidFill>
                          <a:latin typeface="+mn-lt"/>
                          <a:ea typeface="+mn-ea"/>
                          <a:cs typeface="+mn-cs"/>
                        </a:rPr>
                        <a:t>After making some inquiries, you find the</a:t>
                      </a:r>
                    </a:p>
                    <a:p>
                      <a:r>
                        <a:rPr lang="en-US" altLang="zh-CN" sz="1200" b="0" i="0" u="none" strike="noStrike" kern="1200" baseline="0" dirty="0">
                          <a:solidFill>
                            <a:schemeClr val="dk1"/>
                          </a:solidFill>
                          <a:latin typeface="+mn-lt"/>
                          <a:ea typeface="+mn-ea"/>
                          <a:cs typeface="+mn-cs"/>
                        </a:rPr>
                        <a:t>vendor did not provide USB drives to employees.</a:t>
                      </a:r>
                    </a:p>
                    <a:p>
                      <a:r>
                        <a:rPr lang="en-US" altLang="zh-CN" sz="1200" b="0" i="0" u="none" strike="noStrike" kern="1200" baseline="0" dirty="0">
                          <a:solidFill>
                            <a:schemeClr val="dk1"/>
                          </a:solidFill>
                          <a:latin typeface="+mn-lt"/>
                          <a:ea typeface="+mn-ea"/>
                          <a:cs typeface="+mn-cs"/>
                        </a:rPr>
                        <a:t>What do we now do?</a:t>
                      </a:r>
                      <a:endParaRPr lang="zh-CN" altLang="en-US" sz="1200" dirty="0"/>
                    </a:p>
                  </a:txBody>
                  <a:tcPr/>
                </a:tc>
                <a:extLst>
                  <a:ext uri="{0D108BD9-81ED-4DB2-BD59-A6C34878D82A}">
                    <a16:rowId xmlns:a16="http://schemas.microsoft.com/office/drawing/2014/main" val="10001"/>
                  </a:ext>
                </a:extLst>
              </a:tr>
              <a:tr h="370840">
                <a:tc>
                  <a:txBody>
                    <a:bodyPr/>
                    <a:lstStyle/>
                    <a:p>
                      <a:r>
                        <a:rPr lang="en-US" altLang="zh-CN" sz="1200" dirty="0"/>
                        <a:t>Walkthrough</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review by IT personnel of the steps of the plan</a:t>
                      </a:r>
                    </a:p>
                    <a:p>
                      <a:r>
                        <a:rPr lang="en-US" altLang="zh-CN" sz="1200" b="0" i="0" u="none" strike="noStrike" kern="1200" baseline="0" dirty="0">
                          <a:solidFill>
                            <a:schemeClr val="dk1"/>
                          </a:solidFill>
                          <a:latin typeface="+mn-lt"/>
                          <a:ea typeface="+mn-ea"/>
                          <a:cs typeface="+mn-cs"/>
                        </a:rPr>
                        <a:t>by paying particular attention to the IT systems</a:t>
                      </a:r>
                    </a:p>
                    <a:p>
                      <a:r>
                        <a:rPr lang="en-US" altLang="zh-CN" sz="1200" b="0" i="0" u="none" strike="noStrike" kern="1200" baseline="0" dirty="0">
                          <a:solidFill>
                            <a:schemeClr val="dk1"/>
                          </a:solidFill>
                          <a:latin typeface="+mn-lt"/>
                          <a:ea typeface="+mn-ea"/>
                          <a:cs typeface="+mn-cs"/>
                        </a:rPr>
                        <a:t>and services that may be targeted in an attack.</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technician with knowledge of the current</a:t>
                      </a:r>
                    </a:p>
                    <a:p>
                      <a:r>
                        <a:rPr lang="en-US" altLang="zh-CN" sz="1200" b="0" i="0" u="none" strike="noStrike" kern="1200" baseline="0" dirty="0">
                          <a:solidFill>
                            <a:schemeClr val="dk1"/>
                          </a:solidFill>
                          <a:latin typeface="+mn-lt"/>
                          <a:ea typeface="+mn-ea"/>
                          <a:cs typeface="+mn-cs"/>
                        </a:rPr>
                        <a:t>system will walk through the proposed recovery</a:t>
                      </a:r>
                    </a:p>
                    <a:p>
                      <a:r>
                        <a:rPr lang="en-US" altLang="zh-CN" sz="1200" b="0" i="0" u="none" strike="noStrike" kern="1200" baseline="0" dirty="0">
                          <a:solidFill>
                            <a:schemeClr val="dk1"/>
                          </a:solidFill>
                          <a:latin typeface="+mn-lt"/>
                          <a:ea typeface="+mn-ea"/>
                          <a:cs typeface="+mn-cs"/>
                        </a:rPr>
                        <a:t>procedures to determine if there are omissions,</a:t>
                      </a:r>
                    </a:p>
                    <a:p>
                      <a:r>
                        <a:rPr lang="en-US" altLang="zh-CN" sz="1200" b="0" i="0" u="none" strike="noStrike" kern="1200" baseline="0" dirty="0">
                          <a:solidFill>
                            <a:schemeClr val="dk1"/>
                          </a:solidFill>
                          <a:latin typeface="+mn-lt"/>
                          <a:ea typeface="+mn-ea"/>
                          <a:cs typeface="+mn-cs"/>
                        </a:rPr>
                        <a:t>gaps, errors, or false assumptions.</a:t>
                      </a:r>
                      <a:endParaRPr lang="zh-CN" altLang="en-US" sz="1200" dirty="0"/>
                    </a:p>
                  </a:txBody>
                  <a:tcPr/>
                </a:tc>
                <a:extLst>
                  <a:ext uri="{0D108BD9-81ED-4DB2-BD59-A6C34878D82A}">
                    <a16:rowId xmlns:a16="http://schemas.microsoft.com/office/drawing/2014/main" val="10002"/>
                  </a:ext>
                </a:extLst>
              </a:tr>
              <a:tr h="370840">
                <a:tc>
                  <a:txBody>
                    <a:bodyPr/>
                    <a:lstStyle/>
                    <a:p>
                      <a:r>
                        <a:rPr lang="en-US" altLang="zh-CN" sz="1200" dirty="0"/>
                        <a:t>Simulation</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hands-on simulation exercise using a</a:t>
                      </a:r>
                    </a:p>
                    <a:p>
                      <a:r>
                        <a:rPr lang="en-US" altLang="zh-CN" sz="1200" b="0" i="0" u="none" strike="noStrike" kern="1200" baseline="0" dirty="0">
                          <a:solidFill>
                            <a:schemeClr val="dk1"/>
                          </a:solidFill>
                          <a:latin typeface="+mn-lt"/>
                          <a:ea typeface="+mn-ea"/>
                          <a:cs typeface="+mn-cs"/>
                        </a:rPr>
                        <a:t>realistic scenario to thoroughly test each</a:t>
                      </a:r>
                    </a:p>
                    <a:p>
                      <a:r>
                        <a:rPr lang="en-US" altLang="zh-CN" sz="1200" b="0" i="0" u="none" strike="noStrike" kern="1200" baseline="0" dirty="0">
                          <a:solidFill>
                            <a:schemeClr val="dk1"/>
                          </a:solidFill>
                          <a:latin typeface="+mn-lt"/>
                          <a:ea typeface="+mn-ea"/>
                          <a:cs typeface="+mn-cs"/>
                        </a:rPr>
                        <a:t>step of the plan.</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simulation of a senior vice president who</a:t>
                      </a:r>
                    </a:p>
                    <a:p>
                      <a:r>
                        <a:rPr lang="en-US" altLang="zh-CN" sz="1200" b="0" i="0" u="none" strike="noStrike" kern="1200" baseline="0" dirty="0">
                          <a:solidFill>
                            <a:schemeClr val="dk1"/>
                          </a:solidFill>
                          <a:latin typeface="+mn-lt"/>
                          <a:ea typeface="+mn-ea"/>
                          <a:cs typeface="+mn-cs"/>
                        </a:rPr>
                        <a:t>opens a malicious attachment and introduces</a:t>
                      </a:r>
                    </a:p>
                    <a:p>
                      <a:r>
                        <a:rPr lang="en-US" altLang="zh-CN" sz="1200" b="0" i="0" u="none" strike="noStrike" kern="1200" baseline="0" dirty="0">
                          <a:solidFill>
                            <a:schemeClr val="dk1"/>
                          </a:solidFill>
                          <a:latin typeface="+mn-lt"/>
                          <a:ea typeface="+mn-ea"/>
                          <a:cs typeface="+mn-cs"/>
                        </a:rPr>
                        <a:t>malware into the network is presented.</a:t>
                      </a:r>
                      <a:endParaRPr lang="zh-CN" altLang="en-US" sz="12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90924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(4 of 4)</a:t>
            </a:r>
            <a:endParaRPr lang="zh-CN" altLang="en-US" dirty="0"/>
          </a:p>
        </p:txBody>
      </p:sp>
      <p:sp>
        <p:nvSpPr>
          <p:cNvPr id="3" name="Text Placeholder 2"/>
          <p:cNvSpPr>
            <a:spLocks noGrp="1"/>
          </p:cNvSpPr>
          <p:nvPr>
            <p:ph type="body" sz="quarter" idx="17"/>
          </p:nvPr>
        </p:nvSpPr>
        <p:spPr/>
        <p:txBody>
          <a:bodyPr/>
          <a:lstStyle/>
          <a:p>
            <a:r>
              <a:rPr lang="en-US" altLang="zh-CN" dirty="0"/>
              <a:t>Studying Attack Frameworks</a:t>
            </a:r>
          </a:p>
          <a:p>
            <a:pPr lvl="1"/>
            <a:r>
              <a:rPr lang="en-US" altLang="zh-CN" dirty="0"/>
              <a:t>Exploitation frameworks serve as models of the thinking and actions of today’s threat actors</a:t>
            </a:r>
          </a:p>
          <a:p>
            <a:pPr lvl="1"/>
            <a:r>
              <a:rPr lang="en-US" altLang="zh-CN" dirty="0"/>
              <a:t>Three common attack frameworks include the following:</a:t>
            </a:r>
          </a:p>
          <a:p>
            <a:pPr lvl="2"/>
            <a:r>
              <a:rPr lang="en-US" altLang="zh-CN" i="1" dirty="0"/>
              <a:t>MITRE ATT&amp;CK</a:t>
            </a:r>
          </a:p>
          <a:p>
            <a:pPr lvl="2"/>
            <a:r>
              <a:rPr lang="en-US" altLang="zh-CN" i="1" dirty="0"/>
              <a:t>The Diamond Model of Intrusion Analysis</a:t>
            </a:r>
          </a:p>
          <a:p>
            <a:pPr lvl="2"/>
            <a:r>
              <a:rPr lang="en-US" altLang="zh-CN" i="1" dirty="0"/>
              <a:t>Cyber Kill Chain</a:t>
            </a:r>
          </a:p>
        </p:txBody>
      </p:sp>
    </p:spTree>
    <p:extLst>
      <p:ext uri="{BB962C8B-B14F-4D97-AF65-F5344CB8AC3E}">
        <p14:creationId xmlns:p14="http://schemas.microsoft.com/office/powerpoint/2010/main" val="818043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(4 of 4)</a:t>
            </a:r>
            <a:endParaRPr lang="zh-CN" altLang="en-US" dirty="0"/>
          </a:p>
        </p:txBody>
      </p:sp>
      <p:pic>
        <p:nvPicPr>
          <p:cNvPr id="4" name="Picture 2" descr="CyCraft Classroom: MITRE ATT&amp;CK vs. Cyber Kill Chain vs. Diamond Model | by  CyCraft Technology Corp | CyCraft | Medium">
            <a:extLst>
              <a:ext uri="{FF2B5EF4-FFF2-40B4-BE49-F238E27FC236}">
                <a16:creationId xmlns:a16="http://schemas.microsoft.com/office/drawing/2014/main" id="{F066BE4E-F776-D238-7EB8-AAC777A1A9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965" y="1116942"/>
            <a:ext cx="8215299" cy="4624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7610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Incident Response</a:t>
            </a:r>
            <a:endParaRPr lang="zh-CN" altLang="en-US" dirty="0"/>
          </a:p>
        </p:txBody>
      </p:sp>
      <p:sp>
        <p:nvSpPr>
          <p:cNvPr id="3" name="Text Placeholder 2"/>
          <p:cNvSpPr>
            <a:spLocks noGrp="1"/>
          </p:cNvSpPr>
          <p:nvPr>
            <p:ph type="body" sz="quarter" idx="17"/>
          </p:nvPr>
        </p:nvSpPr>
        <p:spPr/>
        <p:txBody>
          <a:bodyPr/>
          <a:lstStyle/>
          <a:p>
            <a:r>
              <a:rPr lang="en-US" altLang="zh-CN" dirty="0"/>
              <a:t>Steps that should be taken when responding to an incident include:</a:t>
            </a:r>
          </a:p>
          <a:p>
            <a:pPr lvl="1"/>
            <a:r>
              <a:rPr lang="en-US" altLang="zh-CN" dirty="0"/>
              <a:t>Taking advantage of SOAR runbooks and playbooks</a:t>
            </a:r>
          </a:p>
          <a:p>
            <a:pPr lvl="1"/>
            <a:r>
              <a:rPr lang="en-US" altLang="zh-CN" dirty="0"/>
              <a:t>Performing containment</a:t>
            </a:r>
          </a:p>
          <a:p>
            <a:pPr lvl="1"/>
            <a:r>
              <a:rPr lang="en-US" altLang="zh-CN" dirty="0"/>
              <a:t>Making configuration changes</a:t>
            </a:r>
            <a:endParaRPr lang="zh-CN" altLang="en-US" dirty="0"/>
          </a:p>
        </p:txBody>
      </p:sp>
    </p:spTree>
    <p:extLst>
      <p:ext uri="{BB962C8B-B14F-4D97-AF65-F5344CB8AC3E}">
        <p14:creationId xmlns:p14="http://schemas.microsoft.com/office/powerpoint/2010/main" val="214181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Use SOAR Runbooks and Playbooks</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b="1" dirty="0"/>
              <a:t>Security Orchestration, Automation, and Response (SOAR) product </a:t>
            </a:r>
            <a:r>
              <a:rPr lang="en-US" altLang="zh-CN" dirty="0"/>
              <a:t>can help security teams manage and respond to security warnings and alarms</a:t>
            </a:r>
          </a:p>
          <a:p>
            <a:pPr lvl="1"/>
            <a:r>
              <a:rPr lang="en-US" altLang="zh-CN" dirty="0"/>
              <a:t>A SOAR allows a security team to automate incident response</a:t>
            </a:r>
          </a:p>
          <a:p>
            <a:r>
              <a:rPr lang="en-US" altLang="zh-CN" dirty="0"/>
              <a:t>A </a:t>
            </a:r>
            <a:r>
              <a:rPr lang="en-US" altLang="zh-CN" b="1" dirty="0"/>
              <a:t>playbook</a:t>
            </a:r>
            <a:r>
              <a:rPr lang="en-US" altLang="zh-CN" dirty="0"/>
              <a:t> is a linear-style checklist of required steps and actions needed to successfully respond to specific incident types and threats</a:t>
            </a:r>
          </a:p>
          <a:p>
            <a:r>
              <a:rPr lang="en-US" altLang="zh-CN" dirty="0"/>
              <a:t>A </a:t>
            </a:r>
            <a:r>
              <a:rPr lang="en-US" altLang="zh-CN" b="1" dirty="0"/>
              <a:t>runbook</a:t>
            </a:r>
            <a:r>
              <a:rPr lang="en-US" altLang="zh-CN" dirty="0"/>
              <a:t> is a series of automated conditional steps that are part of an incident response procedure</a:t>
            </a:r>
          </a:p>
          <a:p>
            <a:pPr lvl="1"/>
            <a:r>
              <a:rPr lang="en-US" altLang="zh-CN" dirty="0"/>
              <a:t>A playbook focuses more on manual steps to be performed and a runbook is usually actions that are performed automatically</a:t>
            </a:r>
          </a:p>
          <a:p>
            <a:r>
              <a:rPr lang="en-US" altLang="zh-CN" dirty="0"/>
              <a:t>Most SOAR platforms have pre-configured “out-of-the-box” playbooks that are based on industry best practices and recognized standards</a:t>
            </a:r>
            <a:endParaRPr lang="zh-CN" altLang="en-US" dirty="0"/>
          </a:p>
        </p:txBody>
      </p:sp>
    </p:spTree>
    <p:extLst>
      <p:ext uri="{BB962C8B-B14F-4D97-AF65-F5344CB8AC3E}">
        <p14:creationId xmlns:p14="http://schemas.microsoft.com/office/powerpoint/2010/main" val="2577873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Perform Containment</a:t>
            </a:r>
            <a:endParaRPr lang="zh-CN" altLang="en-US" dirty="0"/>
          </a:p>
        </p:txBody>
      </p:sp>
      <p:sp>
        <p:nvSpPr>
          <p:cNvPr id="3" name="Text Placeholder 2"/>
          <p:cNvSpPr>
            <a:spLocks noGrp="1"/>
          </p:cNvSpPr>
          <p:nvPr>
            <p:ph type="body" sz="quarter" idx="17"/>
          </p:nvPr>
        </p:nvSpPr>
        <p:spPr/>
        <p:txBody>
          <a:bodyPr/>
          <a:lstStyle/>
          <a:p>
            <a:r>
              <a:rPr lang="en-US" altLang="zh-CN" dirty="0"/>
              <a:t>Containment is limiting the spread of the attack</a:t>
            </a:r>
          </a:p>
          <a:p>
            <a:pPr lvl="1"/>
            <a:r>
              <a:rPr lang="en-US" altLang="zh-CN" dirty="0"/>
              <a:t>Containment can be most effective when the network has been properly designed</a:t>
            </a:r>
          </a:p>
          <a:p>
            <a:r>
              <a:rPr lang="en-US" altLang="zh-CN" dirty="0"/>
              <a:t>A secure network design takes advantage of </a:t>
            </a:r>
            <a:r>
              <a:rPr lang="en-US" altLang="zh-CN" i="1" dirty="0"/>
              <a:t>network segmentation </a:t>
            </a:r>
            <a:r>
              <a:rPr lang="en-US" altLang="zh-CN" dirty="0"/>
              <a:t>based upon the principle of zero trust</a:t>
            </a:r>
          </a:p>
          <a:p>
            <a:r>
              <a:rPr lang="en-US" altLang="zh-CN" dirty="0"/>
              <a:t>Network segments can be created based on business units, locations, or the level of sensitivity of the network data</a:t>
            </a:r>
          </a:p>
          <a:p>
            <a:r>
              <a:rPr lang="en-US" altLang="zh-CN" dirty="0"/>
              <a:t>Network segmentation only restricts attackers by limiting access to other parts of the network</a:t>
            </a:r>
          </a:p>
          <a:p>
            <a:pPr lvl="1"/>
            <a:r>
              <a:rPr lang="en-US" altLang="zh-CN" dirty="0"/>
              <a:t>When an attack occurs, </a:t>
            </a:r>
            <a:r>
              <a:rPr lang="en-US" altLang="zh-CN" b="1" dirty="0"/>
              <a:t>isolation</a:t>
            </a:r>
            <a:r>
              <a:rPr lang="en-US" altLang="zh-CN" dirty="0"/>
              <a:t> is then used to segregate both the attacker and the infected systems from reaching other devices</a:t>
            </a:r>
            <a:endParaRPr lang="zh-CN" altLang="en-US" dirty="0"/>
          </a:p>
        </p:txBody>
      </p:sp>
    </p:spTree>
    <p:extLst>
      <p:ext uri="{BB962C8B-B14F-4D97-AF65-F5344CB8AC3E}">
        <p14:creationId xmlns:p14="http://schemas.microsoft.com/office/powerpoint/2010/main" val="4187772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Make Configuration Changes</a:t>
            </a:r>
            <a:endParaRPr lang="zh-CN" altLang="en-US" dirty="0"/>
          </a:p>
        </p:txBody>
      </p:sp>
      <p:sp>
        <p:nvSpPr>
          <p:cNvPr id="3" name="Text Placeholder 2"/>
          <p:cNvSpPr>
            <a:spLocks noGrp="1"/>
          </p:cNvSpPr>
          <p:nvPr>
            <p:ph type="body" sz="quarter" idx="17"/>
          </p:nvPr>
        </p:nvSpPr>
        <p:spPr/>
        <p:txBody>
          <a:bodyPr/>
          <a:lstStyle/>
          <a:p>
            <a:r>
              <a:rPr lang="en-US" altLang="zh-CN" dirty="0"/>
              <a:t>To neutralize an attacker, limit the spread of the attack, and prevent additional successful incidents, it may be necessary to make configuration changes to devices and processes</a:t>
            </a:r>
          </a:p>
          <a:p>
            <a:r>
              <a:rPr lang="en-US" altLang="zh-CN" dirty="0"/>
              <a:t>Configuration changes may need to be applied to the following:</a:t>
            </a:r>
          </a:p>
          <a:p>
            <a:pPr lvl="1"/>
            <a:r>
              <a:rPr lang="en-US" altLang="zh-CN" dirty="0"/>
              <a:t>Firewall rules</a:t>
            </a:r>
          </a:p>
          <a:p>
            <a:pPr lvl="1"/>
            <a:r>
              <a:rPr lang="en-US" altLang="zh-CN" dirty="0"/>
              <a:t>Content/URL filters</a:t>
            </a:r>
          </a:p>
          <a:p>
            <a:pPr lvl="1"/>
            <a:r>
              <a:rPr lang="en-US" altLang="zh-CN" dirty="0"/>
              <a:t>Digital certificates</a:t>
            </a:r>
          </a:p>
          <a:p>
            <a:pPr lvl="1"/>
            <a:r>
              <a:rPr lang="en-US" altLang="zh-CN" dirty="0"/>
              <a:t>Data loss prevention settings</a:t>
            </a:r>
          </a:p>
          <a:p>
            <a:pPr lvl="1"/>
            <a:r>
              <a:rPr lang="en-US" altLang="zh-CN" dirty="0"/>
              <a:t>Mobile device management settings</a:t>
            </a:r>
            <a:endParaRPr lang="zh-CN" altLang="en-US" dirty="0"/>
          </a:p>
        </p:txBody>
      </p:sp>
    </p:spTree>
    <p:extLst>
      <p:ext uri="{BB962C8B-B14F-4D97-AF65-F5344CB8AC3E}">
        <p14:creationId xmlns:p14="http://schemas.microsoft.com/office/powerpoint/2010/main" val="1851178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must be incorporated into network design to restrict attackers by limiting access to other parts of the network?</a:t>
            </a:r>
          </a:p>
          <a:p>
            <a:pPr marL="342900" lvl="1" indent="0">
              <a:buNone/>
            </a:pPr>
            <a:r>
              <a:rPr lang="en-US" dirty="0">
                <a:solidFill>
                  <a:srgbClr val="000000"/>
                </a:solidFill>
              </a:rPr>
              <a:t>a. Data loss prevention</a:t>
            </a:r>
          </a:p>
          <a:p>
            <a:pPr marL="342900" lvl="1" indent="0">
              <a:buNone/>
            </a:pPr>
            <a:r>
              <a:rPr lang="en-US" dirty="0">
                <a:solidFill>
                  <a:srgbClr val="000000"/>
                </a:solidFill>
              </a:rPr>
              <a:t>b. Content filters</a:t>
            </a:r>
          </a:p>
          <a:p>
            <a:pPr marL="342900" lvl="1" indent="0">
              <a:buNone/>
            </a:pPr>
            <a:r>
              <a:rPr lang="en-US" dirty="0">
                <a:solidFill>
                  <a:srgbClr val="000000"/>
                </a:solidFill>
              </a:rPr>
              <a:t>c. A runbook</a:t>
            </a:r>
          </a:p>
          <a:p>
            <a:pPr marL="342900" lvl="1" indent="0">
              <a:buNone/>
            </a:pPr>
            <a:r>
              <a:rPr lang="en-US" dirty="0">
                <a:solidFill>
                  <a:srgbClr val="000000"/>
                </a:solidFill>
              </a:rPr>
              <a:t>d. Network segmentation</a:t>
            </a:r>
          </a:p>
          <a:p>
            <a:pPr marL="342900" lvl="1" indent="0">
              <a:buNone/>
            </a:pPr>
            <a:endParaRPr lang="en-US" dirty="0"/>
          </a:p>
        </p:txBody>
      </p:sp>
    </p:spTree>
    <p:extLst>
      <p:ext uri="{BB962C8B-B14F-4D97-AF65-F5344CB8AC3E}">
        <p14:creationId xmlns:p14="http://schemas.microsoft.com/office/powerpoint/2010/main" val="1968531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must be incorporated into network design to restrict attackers’ access to parts of the network and then isolate when an attack occurs?</a:t>
            </a:r>
          </a:p>
          <a:p>
            <a:pPr marL="342900" lvl="1" indent="0">
              <a:buNone/>
            </a:pPr>
            <a:r>
              <a:rPr lang="en-US" b="1" dirty="0">
                <a:solidFill>
                  <a:srgbClr val="000000"/>
                </a:solidFill>
              </a:rPr>
              <a:t>Answer: d. Network segmentation</a:t>
            </a:r>
            <a:endParaRPr lang="en-US" altLang="en-US" b="1" i="1" dirty="0">
              <a:solidFill>
                <a:srgbClr val="000000"/>
              </a:solidFill>
            </a:endParaRPr>
          </a:p>
          <a:p>
            <a:pPr marL="342900" lvl="1" indent="0">
              <a:buNone/>
            </a:pPr>
            <a:r>
              <a:rPr lang="en-US" altLang="zh-CN" b="1" dirty="0">
                <a:solidFill>
                  <a:srgbClr val="000000"/>
                </a:solidFill>
              </a:rPr>
              <a:t>A secure network design takes advantage of network segmentation. Network segmentation restricts attackers by limiting their access to other parts of the network and allows the attacker to be isolated if an attack occurs.</a:t>
            </a:r>
          </a:p>
          <a:p>
            <a:pPr marL="342900" lvl="1" indent="0">
              <a:buNone/>
            </a:pPr>
            <a:endParaRPr lang="en-US" b="1" dirty="0">
              <a:solidFill>
                <a:srgbClr val="000000"/>
              </a:solidFill>
            </a:endParaRPr>
          </a:p>
        </p:txBody>
      </p:sp>
    </p:spTree>
    <p:extLst>
      <p:ext uri="{BB962C8B-B14F-4D97-AF65-F5344CB8AC3E}">
        <p14:creationId xmlns:p14="http://schemas.microsoft.com/office/powerpoint/2010/main" val="1423644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Incident Investigation</a:t>
            </a:r>
            <a:endParaRPr lang="zh-CN" altLang="en-US" dirty="0"/>
          </a:p>
        </p:txBody>
      </p:sp>
      <p:sp>
        <p:nvSpPr>
          <p:cNvPr id="3" name="Text Placeholder 2"/>
          <p:cNvSpPr>
            <a:spLocks noGrp="1"/>
          </p:cNvSpPr>
          <p:nvPr>
            <p:ph type="body" sz="quarter" idx="17"/>
          </p:nvPr>
        </p:nvSpPr>
        <p:spPr/>
        <p:txBody>
          <a:bodyPr/>
          <a:lstStyle/>
          <a:p>
            <a:r>
              <a:rPr lang="en-US" altLang="zh-CN" dirty="0"/>
              <a:t>A cybersecurity incident should be fully investigated</a:t>
            </a:r>
          </a:p>
          <a:p>
            <a:r>
              <a:rPr lang="en-US" altLang="zh-CN" dirty="0"/>
              <a:t>Reasons to investigate include:</a:t>
            </a:r>
          </a:p>
          <a:p>
            <a:pPr lvl="1"/>
            <a:r>
              <a:rPr lang="en-US" altLang="zh-CN" dirty="0"/>
              <a:t>To pinpoint how the incident occurred so that future incidents can be prevented</a:t>
            </a:r>
          </a:p>
          <a:p>
            <a:pPr lvl="1"/>
            <a:r>
              <a:rPr lang="en-US" altLang="zh-CN" dirty="0"/>
              <a:t>For regulatory compliance reporting</a:t>
            </a:r>
          </a:p>
          <a:p>
            <a:r>
              <a:rPr lang="en-US" altLang="zh-CN" dirty="0"/>
              <a:t>Incident investigations involves:</a:t>
            </a:r>
          </a:p>
          <a:p>
            <a:pPr lvl="1"/>
            <a:r>
              <a:rPr lang="en-US" altLang="zh-CN" dirty="0"/>
              <a:t>Analyzing data sources</a:t>
            </a:r>
          </a:p>
          <a:p>
            <a:pPr lvl="1"/>
            <a:r>
              <a:rPr lang="en-US" altLang="zh-CN" dirty="0"/>
              <a:t>Performing a digital forensics investigation</a:t>
            </a:r>
            <a:endParaRPr lang="zh-CN" altLang="en-US" dirty="0"/>
          </a:p>
        </p:txBody>
      </p:sp>
    </p:spTree>
    <p:extLst>
      <p:ext uri="{BB962C8B-B14F-4D97-AF65-F5344CB8AC3E}">
        <p14:creationId xmlns:p14="http://schemas.microsoft.com/office/powerpoint/2010/main" val="3104130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 (1 of 4)</a:t>
            </a:r>
            <a:endParaRPr lang="zh-CN" altLang="en-US" dirty="0"/>
          </a:p>
        </p:txBody>
      </p:sp>
      <p:sp>
        <p:nvSpPr>
          <p:cNvPr id="3" name="Text Placeholder 2"/>
          <p:cNvSpPr>
            <a:spLocks noGrp="1"/>
          </p:cNvSpPr>
          <p:nvPr>
            <p:ph type="body" sz="quarter" idx="17"/>
          </p:nvPr>
        </p:nvSpPr>
        <p:spPr/>
        <p:txBody>
          <a:bodyPr/>
          <a:lstStyle/>
          <a:p>
            <a:r>
              <a:rPr lang="en-US" altLang="zh-CN" dirty="0"/>
              <a:t>Log Files</a:t>
            </a:r>
          </a:p>
          <a:p>
            <a:pPr lvl="1"/>
            <a:r>
              <a:rPr lang="en-US" altLang="zh-CN" dirty="0"/>
              <a:t>Using data from log files involves identifying log file sources, collecting data, and analyzing data</a:t>
            </a:r>
          </a:p>
          <a:p>
            <a:pPr lvl="1"/>
            <a:r>
              <a:rPr lang="en-US" altLang="zh-CN" dirty="0"/>
              <a:t>Security logs can reveal the type of attacks that was directed at the network and how it successfully circumvented existing security defenses</a:t>
            </a:r>
          </a:p>
          <a:p>
            <a:pPr lvl="1"/>
            <a:r>
              <a:rPr lang="en-US" altLang="zh-CN" dirty="0"/>
              <a:t>Network-based device logs provide beneficial security data for an investigation</a:t>
            </a:r>
          </a:p>
          <a:p>
            <a:pPr lvl="1"/>
            <a:r>
              <a:rPr lang="en-US" altLang="zh-CN" dirty="0"/>
              <a:t>System log files (authentication servers in particular) should be investigated</a:t>
            </a:r>
          </a:p>
          <a:p>
            <a:pPr lvl="1"/>
            <a:r>
              <a:rPr lang="en-US" altLang="zh-CN" dirty="0"/>
              <a:t>Application log files can give information about attacks focused on different applications</a:t>
            </a:r>
          </a:p>
          <a:p>
            <a:pPr marL="457200" lvl="1" indent="0">
              <a:buNone/>
            </a:pPr>
            <a:endParaRPr lang="zh-CN" altLang="en-US" dirty="0"/>
          </a:p>
        </p:txBody>
      </p:sp>
    </p:spTree>
    <p:extLst>
      <p:ext uri="{BB962C8B-B14F-4D97-AF65-F5344CB8AC3E}">
        <p14:creationId xmlns:p14="http://schemas.microsoft.com/office/powerpoint/2010/main" val="3956378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 (2 of 4)</a:t>
            </a:r>
            <a:endParaRPr lang="zh-CN" altLang="en-US" dirty="0"/>
          </a:p>
        </p:txBody>
      </p:sp>
      <p:sp>
        <p:nvSpPr>
          <p:cNvPr id="3" name="Text Placeholder 2"/>
          <p:cNvSpPr>
            <a:spLocks noGrp="1"/>
          </p:cNvSpPr>
          <p:nvPr>
            <p:ph type="body" sz="quarter" idx="17"/>
          </p:nvPr>
        </p:nvSpPr>
        <p:spPr/>
        <p:txBody>
          <a:bodyPr/>
          <a:lstStyle/>
          <a:p>
            <a:r>
              <a:rPr lang="en-US" altLang="zh-CN" dirty="0"/>
              <a:t>Log Files (continued)</a:t>
            </a:r>
          </a:p>
          <a:p>
            <a:pPr lvl="1"/>
            <a:r>
              <a:rPr lang="en-US" altLang="zh-CN" dirty="0"/>
              <a:t>Problems associated with log management are due to the following:</a:t>
            </a:r>
          </a:p>
          <a:p>
            <a:pPr lvl="2"/>
            <a:r>
              <a:rPr lang="en-US" altLang="zh-CN" dirty="0"/>
              <a:t>Multiple devices generating logs</a:t>
            </a:r>
          </a:p>
          <a:p>
            <a:pPr lvl="2"/>
            <a:r>
              <a:rPr lang="en-US" altLang="zh-CN" dirty="0"/>
              <a:t>Very large volume of data</a:t>
            </a:r>
          </a:p>
          <a:p>
            <a:pPr lvl="2"/>
            <a:r>
              <a:rPr lang="en-US" altLang="zh-CN" dirty="0"/>
              <a:t>Different log formats</a:t>
            </a:r>
          </a:p>
          <a:p>
            <a:pPr lvl="1"/>
            <a:r>
              <a:rPr lang="en-US" altLang="zh-CN" dirty="0"/>
              <a:t>Solutions to these problems can be seen in Table 13-7 on the following slide</a:t>
            </a:r>
            <a:endParaRPr lang="zh-CN" altLang="en-US" dirty="0"/>
          </a:p>
        </p:txBody>
      </p:sp>
    </p:spTree>
    <p:extLst>
      <p:ext uri="{BB962C8B-B14F-4D97-AF65-F5344CB8AC3E}">
        <p14:creationId xmlns:p14="http://schemas.microsoft.com/office/powerpoint/2010/main" val="25727627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 (3 of 4)</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4243686879"/>
              </p:ext>
            </p:extLst>
          </p:nvPr>
        </p:nvGraphicFramePr>
        <p:xfrm>
          <a:off x="1895475" y="2019300"/>
          <a:ext cx="8128000" cy="2880360"/>
        </p:xfrm>
        <a:graphic>
          <a:graphicData uri="http://schemas.openxmlformats.org/drawingml/2006/table">
            <a:tbl>
              <a:tblPr firstRow="1" bandRow="1">
                <a:tableStyleId>{5C22544A-7EE6-4342-B048-85BDC9FD1C3A}</a:tableStyleId>
              </a:tblPr>
              <a:tblGrid>
                <a:gridCol w="1346489">
                  <a:extLst>
                    <a:ext uri="{9D8B030D-6E8A-4147-A177-3AD203B41FA5}">
                      <a16:colId xmlns:a16="http://schemas.microsoft.com/office/drawing/2014/main" val="20000"/>
                    </a:ext>
                  </a:extLst>
                </a:gridCol>
                <a:gridCol w="6781511">
                  <a:extLst>
                    <a:ext uri="{9D8B030D-6E8A-4147-A177-3AD203B41FA5}">
                      <a16:colId xmlns:a16="http://schemas.microsoft.com/office/drawing/2014/main" val="20001"/>
                    </a:ext>
                  </a:extLst>
                </a:gridCol>
              </a:tblGrid>
              <a:tr h="370840">
                <a:tc>
                  <a:txBody>
                    <a:bodyPr/>
                    <a:lstStyle/>
                    <a:p>
                      <a:r>
                        <a:rPr lang="en-US" altLang="zh-CN" sz="1400" dirty="0"/>
                        <a:t>Solution</a:t>
                      </a:r>
                      <a:endParaRPr lang="zh-CN" altLang="en-US" sz="1400" dirty="0"/>
                    </a:p>
                  </a:txBody>
                  <a:tcPr/>
                </a:tc>
                <a:tc>
                  <a:txBody>
                    <a:bodyPr/>
                    <a:lstStyle/>
                    <a:p>
                      <a:r>
                        <a:rPr lang="en-US" altLang="zh-CN" sz="1400" dirty="0"/>
                        <a:t>Description</a:t>
                      </a:r>
                      <a:endParaRPr lang="zh-CN" altLang="en-US" sz="1400" dirty="0"/>
                    </a:p>
                  </a:txBody>
                  <a:tcPr/>
                </a:tc>
                <a:extLst>
                  <a:ext uri="{0D108BD9-81ED-4DB2-BD59-A6C34878D82A}">
                    <a16:rowId xmlns:a16="http://schemas.microsoft.com/office/drawing/2014/main" val="10000"/>
                  </a:ext>
                </a:extLst>
              </a:tr>
              <a:tr h="370840">
                <a:tc>
                  <a:txBody>
                    <a:bodyPr/>
                    <a:lstStyle/>
                    <a:p>
                      <a:r>
                        <a:rPr lang="en-US" altLang="zh-CN" sz="1400" dirty="0"/>
                        <a:t>syslog</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syslog (system logging protocol) is a standard to send system log or event messages to a server.</a:t>
                      </a:r>
                      <a:endParaRPr lang="zh-CN" altLang="en-US" sz="1400" dirty="0"/>
                    </a:p>
                  </a:txBody>
                  <a:tcPr/>
                </a:tc>
                <a:extLst>
                  <a:ext uri="{0D108BD9-81ED-4DB2-BD59-A6C34878D82A}">
                    <a16:rowId xmlns:a16="http://schemas.microsoft.com/office/drawing/2014/main" val="10001"/>
                  </a:ext>
                </a:extLst>
              </a:tr>
              <a:tr h="370840">
                <a:tc>
                  <a:txBody>
                    <a:bodyPr/>
                    <a:lstStyle/>
                    <a:p>
                      <a:r>
                        <a:rPr lang="en-US" altLang="zh-CN" sz="1400" dirty="0"/>
                        <a:t>nxlog</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nxlog is a multi-platform log management tool and supports various platforms, log sources, and formats.</a:t>
                      </a:r>
                      <a:endParaRPr lang="zh-CN" altLang="en-US" sz="1400" dirty="0"/>
                    </a:p>
                  </a:txBody>
                  <a:tcPr/>
                </a:tc>
                <a:extLst>
                  <a:ext uri="{0D108BD9-81ED-4DB2-BD59-A6C34878D82A}">
                    <a16:rowId xmlns:a16="http://schemas.microsoft.com/office/drawing/2014/main" val="10002"/>
                  </a:ext>
                </a:extLst>
              </a:tr>
              <a:tr h="370840">
                <a:tc>
                  <a:txBody>
                    <a:bodyPr/>
                    <a:lstStyle/>
                    <a:p>
                      <a:r>
                        <a:rPr lang="en-US" altLang="zh-CN" sz="1400" dirty="0"/>
                        <a:t>rsyslog</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rsyslog (rocket-fast system for log processing) is an open source utility for forwarding log messages in</a:t>
                      </a:r>
                    </a:p>
                    <a:p>
                      <a:r>
                        <a:rPr lang="en-US" altLang="zh-CN" sz="1400" b="0" i="0" u="none" strike="noStrike" kern="1200" baseline="0" dirty="0">
                          <a:solidFill>
                            <a:schemeClr val="dk1"/>
                          </a:solidFill>
                          <a:latin typeface="+mn-lt"/>
                          <a:ea typeface="+mn-ea"/>
                          <a:cs typeface="+mn-cs"/>
                        </a:rPr>
                        <a:t>an IP network on UNIX devices.</a:t>
                      </a:r>
                      <a:endParaRPr lang="zh-CN" altLang="en-US" sz="1400" dirty="0"/>
                    </a:p>
                  </a:txBody>
                  <a:tcPr/>
                </a:tc>
                <a:extLst>
                  <a:ext uri="{0D108BD9-81ED-4DB2-BD59-A6C34878D82A}">
                    <a16:rowId xmlns:a16="http://schemas.microsoft.com/office/drawing/2014/main" val="10003"/>
                  </a:ext>
                </a:extLst>
              </a:tr>
              <a:tr h="370840">
                <a:tc>
                  <a:txBody>
                    <a:bodyPr/>
                    <a:lstStyle/>
                    <a:p>
                      <a:r>
                        <a:rPr lang="en-US" altLang="zh-CN" sz="1400" dirty="0"/>
                        <a:t>syslog-</a:t>
                      </a:r>
                      <a:r>
                        <a:rPr lang="en-US" altLang="zh-CN" sz="1400" dirty="0" err="1"/>
                        <a:t>ng</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syslog-ng is an open source utility for UNIX devices that includes content filtering.</a:t>
                      </a:r>
                      <a:endParaRPr lang="zh-CN" altLang="en-US" sz="1400" dirty="0"/>
                    </a:p>
                  </a:txBody>
                  <a:tcPr/>
                </a:tc>
                <a:extLst>
                  <a:ext uri="{0D108BD9-81ED-4DB2-BD59-A6C34878D82A}">
                    <a16:rowId xmlns:a16="http://schemas.microsoft.com/office/drawing/2014/main" val="10004"/>
                  </a:ext>
                </a:extLst>
              </a:tr>
              <a:tr h="370840">
                <a:tc>
                  <a:txBody>
                    <a:bodyPr/>
                    <a:lstStyle/>
                    <a:p>
                      <a:r>
                        <a:rPr lang="en-US" altLang="zh-CN" sz="1400" dirty="0"/>
                        <a:t>journalctl</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journalctl is a Linux utility for querying and displaying log files.</a:t>
                      </a:r>
                      <a:endParaRPr lang="zh-CN" altLang="en-US" sz="1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46097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 (4 of 4)</a:t>
            </a:r>
            <a:endParaRPr lang="zh-CN" altLang="en-US" dirty="0"/>
          </a:p>
        </p:txBody>
      </p:sp>
      <p:sp>
        <p:nvSpPr>
          <p:cNvPr id="3" name="Text Placeholder 2"/>
          <p:cNvSpPr>
            <a:spLocks noGrp="1"/>
          </p:cNvSpPr>
          <p:nvPr>
            <p:ph type="body" sz="quarter" idx="17"/>
          </p:nvPr>
        </p:nvSpPr>
        <p:spPr/>
        <p:txBody>
          <a:bodyPr/>
          <a:lstStyle/>
          <a:p>
            <a:r>
              <a:rPr lang="en-US" altLang="zh-CN" dirty="0"/>
              <a:t>Other Data Sources</a:t>
            </a:r>
          </a:p>
          <a:p>
            <a:pPr lvl="1"/>
            <a:r>
              <a:rPr lang="en-US" altLang="zh-CN" dirty="0"/>
              <a:t>Data can be accumulated from other sources including the following:</a:t>
            </a:r>
          </a:p>
          <a:p>
            <a:pPr lvl="2"/>
            <a:r>
              <a:rPr lang="en-US" altLang="zh-CN" i="1" dirty="0"/>
              <a:t>IP monitors</a:t>
            </a:r>
          </a:p>
          <a:p>
            <a:pPr lvl="2"/>
            <a:r>
              <a:rPr lang="en-US" altLang="zh-CN" i="1" dirty="0"/>
              <a:t>Metadata</a:t>
            </a:r>
          </a:p>
          <a:p>
            <a:pPr lvl="2"/>
            <a:r>
              <a:rPr lang="en-US" altLang="zh-CN" i="1" dirty="0"/>
              <a:t>Analyzers</a:t>
            </a:r>
          </a:p>
          <a:p>
            <a:pPr lvl="2"/>
            <a:r>
              <a:rPr lang="en-US" altLang="zh-CN" i="1" dirty="0"/>
              <a:t>Vulnerability scans</a:t>
            </a:r>
          </a:p>
          <a:p>
            <a:pPr lvl="2"/>
            <a:endParaRPr lang="zh-CN" altLang="en-US" dirty="0"/>
          </a:p>
        </p:txBody>
      </p:sp>
    </p:spTree>
    <p:extLst>
      <p:ext uri="{BB962C8B-B14F-4D97-AF65-F5344CB8AC3E}">
        <p14:creationId xmlns:p14="http://schemas.microsoft.com/office/powerpoint/2010/main" val="1602530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(1 of 10)</a:t>
            </a:r>
            <a:endParaRPr lang="zh-CN" altLang="en-US" dirty="0"/>
          </a:p>
        </p:txBody>
      </p:sp>
      <p:sp>
        <p:nvSpPr>
          <p:cNvPr id="3" name="Text Placeholder 2"/>
          <p:cNvSpPr>
            <a:spLocks noGrp="1"/>
          </p:cNvSpPr>
          <p:nvPr>
            <p:ph type="body" sz="quarter" idx="17"/>
          </p:nvPr>
        </p:nvSpPr>
        <p:spPr/>
        <p:txBody>
          <a:bodyPr/>
          <a:lstStyle/>
          <a:p>
            <a:r>
              <a:rPr lang="en-US" altLang="en-US" dirty="0"/>
              <a:t>What is Forensics?</a:t>
            </a:r>
          </a:p>
          <a:p>
            <a:pPr lvl="1"/>
            <a:r>
              <a:rPr lang="en-US" altLang="en-US" dirty="0"/>
              <a:t>Forensic science is the application of science to legal questions</a:t>
            </a:r>
          </a:p>
          <a:p>
            <a:pPr lvl="2"/>
            <a:r>
              <a:rPr lang="en-US" altLang="en-US" dirty="0"/>
              <a:t>Forensics can be applied to technology</a:t>
            </a:r>
          </a:p>
          <a:p>
            <a:pPr lvl="1"/>
            <a:r>
              <a:rPr lang="en-US" altLang="en-US" dirty="0"/>
              <a:t>Digital forensics uses technology to search for computer evidence of a cybercrime</a:t>
            </a:r>
          </a:p>
          <a:p>
            <a:pPr lvl="1"/>
            <a:r>
              <a:rPr lang="en-US" altLang="en-US" dirty="0"/>
              <a:t>Digital evidence can be retrieved from computers, mobile devices, cell phones, digital cameras, and virtually any device that has a processor, memory, or storage</a:t>
            </a:r>
          </a:p>
          <a:p>
            <a:endParaRPr lang="zh-CN" altLang="en-US" dirty="0"/>
          </a:p>
        </p:txBody>
      </p:sp>
    </p:spTree>
    <p:extLst>
      <p:ext uri="{BB962C8B-B14F-4D97-AF65-F5344CB8AC3E}">
        <p14:creationId xmlns:p14="http://schemas.microsoft.com/office/powerpoint/2010/main" val="885992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(2 of 10)</a:t>
            </a:r>
            <a:endParaRPr lang="zh-CN" altLang="en-US" dirty="0"/>
          </a:p>
        </p:txBody>
      </p:sp>
      <p:sp>
        <p:nvSpPr>
          <p:cNvPr id="3" name="Text Placeholder 2"/>
          <p:cNvSpPr>
            <a:spLocks noGrp="1"/>
          </p:cNvSpPr>
          <p:nvPr>
            <p:ph type="body" sz="quarter" idx="17"/>
          </p:nvPr>
        </p:nvSpPr>
        <p:spPr/>
        <p:txBody>
          <a:bodyPr/>
          <a:lstStyle/>
          <a:p>
            <a:r>
              <a:rPr lang="en-US" altLang="en-US" dirty="0"/>
              <a:t>Forensics Procedures</a:t>
            </a:r>
          </a:p>
          <a:p>
            <a:pPr lvl="1"/>
            <a:r>
              <a:rPr lang="en-US" altLang="zh-CN" dirty="0"/>
              <a:t>When responding to an incident, five basic steps are followed:</a:t>
            </a:r>
          </a:p>
          <a:p>
            <a:pPr lvl="2"/>
            <a:r>
              <a:rPr lang="en-US" altLang="en-US" dirty="0"/>
              <a:t>Secure the crime scene</a:t>
            </a:r>
          </a:p>
          <a:p>
            <a:pPr lvl="2"/>
            <a:r>
              <a:rPr lang="en-US" altLang="en-US" dirty="0"/>
              <a:t>Preserve the evidence</a:t>
            </a:r>
          </a:p>
          <a:p>
            <a:pPr lvl="2"/>
            <a:r>
              <a:rPr lang="en-US" altLang="en-US" dirty="0"/>
              <a:t>Establish a chain of custody</a:t>
            </a:r>
          </a:p>
          <a:p>
            <a:pPr lvl="2"/>
            <a:r>
              <a:rPr lang="en-US" altLang="en-US" dirty="0"/>
              <a:t>Examine the evidence</a:t>
            </a:r>
          </a:p>
          <a:p>
            <a:pPr lvl="2"/>
            <a:r>
              <a:rPr lang="en-US" altLang="en-US" dirty="0"/>
              <a:t>Enable recovery</a:t>
            </a:r>
          </a:p>
          <a:p>
            <a:pPr lvl="1"/>
            <a:endParaRPr lang="zh-CN" altLang="en-US" dirty="0"/>
          </a:p>
        </p:txBody>
      </p:sp>
    </p:spTree>
    <p:extLst>
      <p:ext uri="{BB962C8B-B14F-4D97-AF65-F5344CB8AC3E}">
        <p14:creationId xmlns:p14="http://schemas.microsoft.com/office/powerpoint/2010/main" val="31791821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(3 of 10)</a:t>
            </a:r>
            <a:endParaRPr lang="zh-CN" altLang="en-US" dirty="0"/>
          </a:p>
        </p:txBody>
      </p:sp>
      <p:sp>
        <p:nvSpPr>
          <p:cNvPr id="3" name="Text Placeholder 2"/>
          <p:cNvSpPr>
            <a:spLocks noGrp="1"/>
          </p:cNvSpPr>
          <p:nvPr>
            <p:ph type="body" sz="quarter" idx="17"/>
          </p:nvPr>
        </p:nvSpPr>
        <p:spPr/>
        <p:txBody>
          <a:bodyPr/>
          <a:lstStyle/>
          <a:p>
            <a:r>
              <a:rPr lang="en-US" altLang="zh-CN" dirty="0"/>
              <a:t>Secure the Scene</a:t>
            </a:r>
          </a:p>
          <a:p>
            <a:pPr lvl="1"/>
            <a:r>
              <a:rPr lang="en-US" altLang="zh-CN" dirty="0"/>
              <a:t>Individuals in the immediate vicinity should perform damage control:</a:t>
            </a:r>
          </a:p>
          <a:p>
            <a:pPr lvl="2"/>
            <a:r>
              <a:rPr lang="en-US" altLang="zh-CN" dirty="0"/>
              <a:t>Contact the incident response team</a:t>
            </a:r>
          </a:p>
          <a:p>
            <a:pPr lvl="2"/>
            <a:r>
              <a:rPr lang="en-US" altLang="zh-CN" dirty="0"/>
              <a:t>Secure physical security features</a:t>
            </a:r>
          </a:p>
          <a:p>
            <a:pPr lvl="2"/>
            <a:r>
              <a:rPr lang="en-US" altLang="zh-CN" dirty="0"/>
              <a:t>Quarantine electronic equipment</a:t>
            </a:r>
          </a:p>
          <a:p>
            <a:pPr lvl="2"/>
            <a:r>
              <a:rPr lang="en-US" altLang="zh-CN" dirty="0"/>
              <a:t>If necessary, report the incident to the appropriate external authorities </a:t>
            </a:r>
          </a:p>
          <a:p>
            <a:pPr lvl="1"/>
            <a:r>
              <a:rPr lang="en-US" altLang="en-US" dirty="0"/>
              <a:t>After the response team arrives, the first job is to secure the crime scene, which includes:</a:t>
            </a:r>
          </a:p>
          <a:p>
            <a:pPr lvl="2"/>
            <a:r>
              <a:rPr lang="en-US" altLang="en-US" dirty="0"/>
              <a:t>Physical surroundings should be documented</a:t>
            </a:r>
          </a:p>
          <a:p>
            <a:pPr lvl="2"/>
            <a:r>
              <a:rPr lang="en-US" altLang="en-US" dirty="0"/>
              <a:t>Photographs taken before anything is touched</a:t>
            </a:r>
          </a:p>
          <a:p>
            <a:pPr lvl="2"/>
            <a:r>
              <a:rPr lang="en-US" altLang="en-US" dirty="0"/>
              <a:t>Computer cables should be labeled</a:t>
            </a:r>
          </a:p>
          <a:p>
            <a:pPr lvl="2"/>
            <a:r>
              <a:rPr lang="en-US" altLang="en-US" dirty="0"/>
              <a:t>The team takes custody of entire computer along with any peripherals</a:t>
            </a:r>
          </a:p>
          <a:p>
            <a:pPr lvl="2"/>
            <a:r>
              <a:rPr lang="en-US" altLang="en-US" dirty="0"/>
              <a:t>The team interviews witnesses</a:t>
            </a:r>
          </a:p>
          <a:p>
            <a:pPr lvl="1"/>
            <a:endParaRPr lang="zh-CN" altLang="en-US" dirty="0"/>
          </a:p>
        </p:txBody>
      </p:sp>
    </p:spTree>
    <p:extLst>
      <p:ext uri="{BB962C8B-B14F-4D97-AF65-F5344CB8AC3E}">
        <p14:creationId xmlns:p14="http://schemas.microsoft.com/office/powerpoint/2010/main" val="31051602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(4 of 10)</a:t>
            </a:r>
            <a:endParaRPr lang="zh-CN" altLang="en-US" dirty="0"/>
          </a:p>
        </p:txBody>
      </p:sp>
      <p:sp>
        <p:nvSpPr>
          <p:cNvPr id="3" name="Text Placeholder 2"/>
          <p:cNvSpPr>
            <a:spLocks noGrp="1"/>
          </p:cNvSpPr>
          <p:nvPr>
            <p:ph type="body" sz="quarter" idx="17"/>
          </p:nvPr>
        </p:nvSpPr>
        <p:spPr/>
        <p:txBody>
          <a:bodyPr/>
          <a:lstStyle/>
          <a:p>
            <a:r>
              <a:rPr lang="en-US" altLang="zh-CN" dirty="0"/>
              <a:t>Preserve the Evidence</a:t>
            </a:r>
          </a:p>
          <a:p>
            <a:pPr lvl="1"/>
            <a:r>
              <a:rPr lang="en-US" altLang="zh-CN" b="1" dirty="0"/>
              <a:t>Preservation of the evidence </a:t>
            </a:r>
            <a:r>
              <a:rPr lang="en-US" altLang="zh-CN" dirty="0"/>
              <a:t>involves ensuring that important proof is not destroyed</a:t>
            </a:r>
          </a:p>
          <a:p>
            <a:pPr lvl="1"/>
            <a:r>
              <a:rPr lang="en-US" altLang="en-US" dirty="0"/>
              <a:t>Digital evidence is very fragile</a:t>
            </a:r>
          </a:p>
          <a:p>
            <a:pPr lvl="2"/>
            <a:r>
              <a:rPr lang="en-US" altLang="en-US" dirty="0"/>
              <a:t>Evidence should be placed in bags that have tags or identifying labels</a:t>
            </a:r>
          </a:p>
          <a:p>
            <a:pPr lvl="1"/>
            <a:r>
              <a:rPr lang="en-US" altLang="zh-CN" dirty="0"/>
              <a:t>Bags should be sealed to protect the evidence from being altered</a:t>
            </a:r>
          </a:p>
          <a:p>
            <a:pPr lvl="2"/>
            <a:r>
              <a:rPr lang="en-US" altLang="zh-CN" dirty="0"/>
              <a:t>A tamper-evident seal is a seal or tape that cannot be removed and reapplied without leaving obvious visual evidence</a:t>
            </a:r>
          </a:p>
          <a:p>
            <a:pPr lvl="2"/>
            <a:r>
              <a:rPr lang="en-US" altLang="zh-CN" dirty="0"/>
              <a:t>A tamper-resistant seal is designed to deter tampering with the bag</a:t>
            </a:r>
          </a:p>
          <a:p>
            <a:pPr lvl="1"/>
            <a:r>
              <a:rPr lang="en-US" altLang="zh-CN" dirty="0"/>
              <a:t>If necessary, the judicial system may need to be involved to ensure the integrity of the evidence is maintained and can hold up in a court of law (admissibility) </a:t>
            </a:r>
            <a:endParaRPr lang="zh-CN" altLang="en-US" dirty="0"/>
          </a:p>
        </p:txBody>
      </p:sp>
    </p:spTree>
    <p:extLst>
      <p:ext uri="{BB962C8B-B14F-4D97-AF65-F5344CB8AC3E}">
        <p14:creationId xmlns:p14="http://schemas.microsoft.com/office/powerpoint/2010/main" val="16332042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(5 of 10)</a:t>
            </a:r>
            <a:endParaRPr lang="zh-CN" altLang="en-US" dirty="0"/>
          </a:p>
        </p:txBody>
      </p:sp>
      <p:sp>
        <p:nvSpPr>
          <p:cNvPr id="3" name="Text Placeholder 2"/>
          <p:cNvSpPr>
            <a:spLocks noGrp="1"/>
          </p:cNvSpPr>
          <p:nvPr>
            <p:ph type="body" sz="quarter" idx="17"/>
          </p:nvPr>
        </p:nvSpPr>
        <p:spPr/>
        <p:txBody>
          <a:bodyPr/>
          <a:lstStyle/>
          <a:p>
            <a:r>
              <a:rPr lang="en-US" altLang="zh-CN" dirty="0"/>
              <a:t>Document Chain of Custody</a:t>
            </a:r>
          </a:p>
          <a:p>
            <a:pPr lvl="1"/>
            <a:r>
              <a:rPr lang="en-US" altLang="zh-CN" dirty="0"/>
              <a:t>Documenting the evidence from the very beginning is called </a:t>
            </a:r>
            <a:r>
              <a:rPr lang="en-US" altLang="zh-CN" b="1" dirty="0"/>
              <a:t>provenance</a:t>
            </a:r>
          </a:p>
          <a:p>
            <a:pPr lvl="1"/>
            <a:r>
              <a:rPr lang="en-US" altLang="zh-CN" dirty="0"/>
              <a:t>Chain of custody d</a:t>
            </a:r>
            <a:r>
              <a:rPr lang="en-US" altLang="en-US" dirty="0"/>
              <a:t>ocuments that the evidence was maintained under strict control at all times and no unauthorized person was given opportunity to corrupt the evidence</a:t>
            </a:r>
          </a:p>
          <a:p>
            <a:pPr lvl="1"/>
            <a:r>
              <a:rPr lang="en-US" altLang="en-US" dirty="0"/>
              <a:t>A chain of custody includes documenting:</a:t>
            </a:r>
          </a:p>
          <a:p>
            <a:pPr lvl="2"/>
            <a:r>
              <a:rPr lang="en-US" altLang="en-US" dirty="0"/>
              <a:t>All serial numbers of systems involved</a:t>
            </a:r>
          </a:p>
          <a:p>
            <a:pPr lvl="2"/>
            <a:r>
              <a:rPr lang="en-US" altLang="en-US" dirty="0"/>
              <a:t>Who handled and had custody of the systems and for what length of time</a:t>
            </a:r>
          </a:p>
          <a:p>
            <a:pPr lvl="2"/>
            <a:r>
              <a:rPr lang="en-US" altLang="en-US" dirty="0"/>
              <a:t>How the computer was shipped</a:t>
            </a:r>
          </a:p>
          <a:p>
            <a:pPr lvl="2"/>
            <a:r>
              <a:rPr lang="en-US" altLang="en-US" dirty="0"/>
              <a:t>Any other steps in the process</a:t>
            </a:r>
          </a:p>
          <a:p>
            <a:pPr marL="228600" lvl="1" indent="0">
              <a:buNone/>
            </a:pPr>
            <a:r>
              <a:rPr lang="en-US" altLang="zh-CN" dirty="0"/>
              <a:t> </a:t>
            </a:r>
          </a:p>
          <a:p>
            <a:endParaRPr lang="zh-CN" altLang="en-US" dirty="0"/>
          </a:p>
        </p:txBody>
      </p:sp>
    </p:spTree>
    <p:extLst>
      <p:ext uri="{BB962C8B-B14F-4D97-AF65-F5344CB8AC3E}">
        <p14:creationId xmlns:p14="http://schemas.microsoft.com/office/powerpoint/2010/main" val="1980669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(6 of 10)</a:t>
            </a:r>
            <a:endParaRPr lang="zh-CN" altLang="en-US" dirty="0"/>
          </a:p>
        </p:txBody>
      </p:sp>
      <p:pic>
        <p:nvPicPr>
          <p:cNvPr id="5" name="Picture Placeholder 4" descr="A sample chain of custody form. The form has the following heading. Evidence Chain of Custody Tracking Form. A property record number field is present on the top right. The case number, offense, name and I D of the submitting official, data and time seized, and location of seizure have to be entered in the form. Description of the evidence, and chain of custody have to be tabulated. Other details on the form pertain to the Final Disposal Authority, Witness to Destruction of Evidence, and Release to Lawful Owner. The document is to be retained as a permanent recor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239800" y="1316936"/>
            <a:ext cx="3194646" cy="4379345"/>
          </a:xfrm>
          <a:prstGeom prst="rect">
            <a:avLst/>
          </a:prstGeom>
          <a:noFill/>
          <a:ln>
            <a:noFill/>
          </a:ln>
        </p:spPr>
      </p:pic>
      <p:sp>
        <p:nvSpPr>
          <p:cNvPr id="4" name="Text Placeholder 3"/>
          <p:cNvSpPr>
            <a:spLocks noGrp="1"/>
          </p:cNvSpPr>
          <p:nvPr>
            <p:ph type="body" sz="quarter" idx="11"/>
          </p:nvPr>
        </p:nvSpPr>
        <p:spPr>
          <a:xfrm>
            <a:off x="6096000" y="5361193"/>
            <a:ext cx="3976406" cy="335088"/>
          </a:xfrm>
        </p:spPr>
        <p:txBody>
          <a:bodyPr/>
          <a:lstStyle/>
          <a:p>
            <a:r>
              <a:rPr lang="en-US" altLang="zh-CN" dirty="0"/>
              <a:t>Figure 13-8 Chain of custody form</a:t>
            </a:r>
            <a:endParaRPr lang="zh-CN" altLang="en-US" dirty="0"/>
          </a:p>
        </p:txBody>
      </p:sp>
    </p:spTree>
    <p:extLst>
      <p:ext uri="{BB962C8B-B14F-4D97-AF65-F5344CB8AC3E}">
        <p14:creationId xmlns:p14="http://schemas.microsoft.com/office/powerpoint/2010/main" val="4050240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(7 of 10)</a:t>
            </a:r>
            <a:endParaRPr lang="zh-CN" altLang="en-US" dirty="0"/>
          </a:p>
        </p:txBody>
      </p:sp>
      <p:sp>
        <p:nvSpPr>
          <p:cNvPr id="3" name="Text Placeholder 2"/>
          <p:cNvSpPr>
            <a:spLocks noGrp="1"/>
          </p:cNvSpPr>
          <p:nvPr>
            <p:ph type="body" sz="quarter" idx="17"/>
          </p:nvPr>
        </p:nvSpPr>
        <p:spPr/>
        <p:txBody>
          <a:bodyPr/>
          <a:lstStyle/>
          <a:p>
            <a:r>
              <a:rPr lang="en-US" altLang="zh-CN" dirty="0"/>
              <a:t>Examine for Evidence</a:t>
            </a:r>
          </a:p>
          <a:p>
            <a:pPr lvl="1"/>
            <a:r>
              <a:rPr lang="en-US" altLang="zh-CN" dirty="0"/>
              <a:t>An </a:t>
            </a:r>
            <a:r>
              <a:rPr lang="en-US" altLang="zh-CN" b="1" dirty="0"/>
              <a:t>order of volatility </a:t>
            </a:r>
            <a:r>
              <a:rPr lang="en-US" altLang="zh-CN" dirty="0"/>
              <a:t>must be followed when examining evidence in order to preserve the most fragile data first</a:t>
            </a:r>
          </a:p>
          <a:p>
            <a:pPr lvl="1"/>
            <a:r>
              <a:rPr lang="en-US" altLang="en-US" dirty="0"/>
              <a:t>After a computer forensics expert creates a mirror image of a system, the original system is secured and the mirror image is examined to reveal evidence</a:t>
            </a:r>
          </a:p>
          <a:p>
            <a:pPr lvl="1"/>
            <a:r>
              <a:rPr lang="en-US" altLang="en-US" dirty="0"/>
              <a:t>Mirror image backup programs rely upon hashing algorithms as part of the validation process</a:t>
            </a:r>
          </a:p>
          <a:p>
            <a:pPr lvl="1"/>
            <a:r>
              <a:rPr lang="en-US" altLang="en-US" dirty="0"/>
              <a:t>Two elements frequently overlooked during an investigation include:</a:t>
            </a:r>
          </a:p>
          <a:p>
            <a:pPr lvl="2"/>
            <a:r>
              <a:rPr lang="en-US" altLang="en-US" dirty="0"/>
              <a:t>The </a:t>
            </a:r>
            <a:r>
              <a:rPr lang="en-US" altLang="en-US" b="1" dirty="0"/>
              <a:t>swap file </a:t>
            </a:r>
            <a:r>
              <a:rPr lang="en-US" altLang="en-US" dirty="0"/>
              <a:t>(or pagefile)</a:t>
            </a:r>
          </a:p>
          <a:p>
            <a:pPr lvl="2"/>
            <a:r>
              <a:rPr lang="en-US" altLang="en-US" b="1" dirty="0"/>
              <a:t>Firmware</a:t>
            </a:r>
          </a:p>
          <a:p>
            <a:pPr lvl="1"/>
            <a:r>
              <a:rPr lang="en-US" altLang="en-US" dirty="0"/>
              <a:t>Hidden clues also can be exposed by examining</a:t>
            </a:r>
          </a:p>
          <a:p>
            <a:pPr lvl="2"/>
            <a:r>
              <a:rPr lang="en-US" altLang="en-US" dirty="0"/>
              <a:t>RAM slack, drive slack, and metadata (data about data)</a:t>
            </a:r>
          </a:p>
          <a:p>
            <a:pPr marL="0" indent="0">
              <a:buNone/>
            </a:pPr>
            <a:endParaRPr lang="en-US" altLang="zh-CN" dirty="0"/>
          </a:p>
          <a:p>
            <a:pPr lvl="1"/>
            <a:endParaRPr lang="zh-CN" altLang="en-US" dirty="0"/>
          </a:p>
        </p:txBody>
      </p:sp>
    </p:spTree>
    <p:extLst>
      <p:ext uri="{BB962C8B-B14F-4D97-AF65-F5344CB8AC3E}">
        <p14:creationId xmlns:p14="http://schemas.microsoft.com/office/powerpoint/2010/main" val="1061152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(8 of 10)</a:t>
            </a:r>
            <a:endParaRPr lang="zh-CN" altLang="en-US" dirty="0"/>
          </a:p>
        </p:txBody>
      </p:sp>
      <p:sp>
        <p:nvSpPr>
          <p:cNvPr id="3" name="Text Placeholder 2"/>
          <p:cNvSpPr>
            <a:spLocks noGrp="1"/>
          </p:cNvSpPr>
          <p:nvPr>
            <p:ph type="body" sz="quarter" idx="17"/>
          </p:nvPr>
        </p:nvSpPr>
        <p:spPr/>
        <p:txBody>
          <a:bodyPr/>
          <a:lstStyle/>
          <a:p>
            <a:r>
              <a:rPr lang="en-US" altLang="zh-CN" dirty="0"/>
              <a:t>Enable Recovery</a:t>
            </a:r>
          </a:p>
          <a:p>
            <a:pPr lvl="1"/>
            <a:r>
              <a:rPr lang="en-US" altLang="zh-CN" dirty="0"/>
              <a:t>A final analysis looks at recovering the data from the security event and the lessons that can be learned from it</a:t>
            </a:r>
          </a:p>
          <a:p>
            <a:pPr lvl="1"/>
            <a:r>
              <a:rPr lang="en-US" altLang="zh-CN" b="1" dirty="0"/>
              <a:t>Strategic intelligence </a:t>
            </a:r>
            <a:r>
              <a:rPr lang="en-US" altLang="zh-CN" dirty="0"/>
              <a:t>is the collection, processing, analysis, and dissemination of intelligence for forming policy changes</a:t>
            </a:r>
          </a:p>
          <a:p>
            <a:pPr lvl="1"/>
            <a:r>
              <a:rPr lang="en-US" altLang="zh-CN" b="1" dirty="0"/>
              <a:t>Strategic counterintelligence </a:t>
            </a:r>
            <a:r>
              <a:rPr lang="en-US" altLang="zh-CN" dirty="0"/>
              <a:t>involves gaining information about the attacker’s intelligence collection capabilities</a:t>
            </a:r>
          </a:p>
          <a:p>
            <a:endParaRPr lang="zh-CN" altLang="en-US" dirty="0"/>
          </a:p>
        </p:txBody>
      </p:sp>
    </p:spTree>
    <p:extLst>
      <p:ext uri="{BB962C8B-B14F-4D97-AF65-F5344CB8AC3E}">
        <p14:creationId xmlns:p14="http://schemas.microsoft.com/office/powerpoint/2010/main" val="21680069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(9 of 10)</a:t>
            </a:r>
            <a:endParaRPr lang="zh-CN" altLang="en-US" dirty="0"/>
          </a:p>
        </p:txBody>
      </p:sp>
      <p:sp>
        <p:nvSpPr>
          <p:cNvPr id="3" name="Text Placeholder 2"/>
          <p:cNvSpPr>
            <a:spLocks noGrp="1"/>
          </p:cNvSpPr>
          <p:nvPr>
            <p:ph type="body" sz="quarter" idx="17"/>
          </p:nvPr>
        </p:nvSpPr>
        <p:spPr/>
        <p:txBody>
          <a:bodyPr/>
          <a:lstStyle/>
          <a:p>
            <a:r>
              <a:rPr lang="en-US" altLang="zh-CN" dirty="0"/>
              <a:t>Forensics Tools</a:t>
            </a:r>
          </a:p>
          <a:p>
            <a:pPr lvl="1"/>
            <a:r>
              <a:rPr lang="en-US" altLang="zh-CN" dirty="0"/>
              <a:t>Software forensics tools include the following:</a:t>
            </a:r>
          </a:p>
          <a:p>
            <a:pPr lvl="2"/>
            <a:r>
              <a:rPr lang="en-US" altLang="zh-CN" dirty="0"/>
              <a:t>A utility named DD (sometimes called DNU dd) is an imaging utility that requires only minimal resources to run and generates raw image files that can be read by many other programs</a:t>
            </a:r>
          </a:p>
          <a:p>
            <a:pPr lvl="2"/>
            <a:r>
              <a:rPr lang="en-US" altLang="zh-CN" dirty="0"/>
              <a:t>Memdump is a Linux utility that “dumps” system memory</a:t>
            </a:r>
          </a:p>
          <a:p>
            <a:pPr lvl="2"/>
            <a:r>
              <a:rPr lang="en-US" altLang="zh-CN" dirty="0"/>
              <a:t>WinHex</a:t>
            </a:r>
          </a:p>
          <a:p>
            <a:pPr lvl="2"/>
            <a:r>
              <a:rPr lang="en-US" altLang="zh-CN" dirty="0"/>
              <a:t>Autopsy</a:t>
            </a:r>
          </a:p>
          <a:p>
            <a:pPr lvl="1"/>
            <a:r>
              <a:rPr lang="en-US" altLang="zh-CN" dirty="0"/>
              <a:t>Hardware forensics tools include the following:</a:t>
            </a:r>
          </a:p>
          <a:p>
            <a:pPr lvl="2"/>
            <a:r>
              <a:rPr lang="en-US" altLang="zh-CN" dirty="0"/>
              <a:t>A digital forensic workstation </a:t>
            </a:r>
          </a:p>
          <a:p>
            <a:pPr lvl="2"/>
            <a:r>
              <a:rPr lang="en-US" altLang="zh-CN" dirty="0"/>
              <a:t>A mobile device forensics tool</a:t>
            </a:r>
            <a:endParaRPr lang="zh-CN" altLang="en-US" dirty="0"/>
          </a:p>
        </p:txBody>
      </p:sp>
    </p:spTree>
    <p:extLst>
      <p:ext uri="{BB962C8B-B14F-4D97-AF65-F5344CB8AC3E}">
        <p14:creationId xmlns:p14="http://schemas.microsoft.com/office/powerpoint/2010/main" val="41109955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(10 of 10)</a:t>
            </a:r>
            <a:endParaRPr lang="zh-CN" altLang="en-US" dirty="0"/>
          </a:p>
        </p:txBody>
      </p:sp>
      <p:sp>
        <p:nvSpPr>
          <p:cNvPr id="3" name="Text Placeholder 2"/>
          <p:cNvSpPr>
            <a:spLocks noGrp="1"/>
          </p:cNvSpPr>
          <p:nvPr>
            <p:ph type="body" sz="quarter" idx="17"/>
          </p:nvPr>
        </p:nvSpPr>
        <p:spPr/>
        <p:txBody>
          <a:bodyPr/>
          <a:lstStyle/>
          <a:p>
            <a:r>
              <a:rPr lang="en-US" altLang="zh-CN" dirty="0"/>
              <a:t>Cloud Forensics</a:t>
            </a:r>
          </a:p>
          <a:p>
            <a:pPr lvl="1"/>
            <a:r>
              <a:rPr lang="en-US" altLang="zh-CN" dirty="0"/>
              <a:t>When dealing with a cloud incident, the following should be considered:</a:t>
            </a:r>
          </a:p>
          <a:p>
            <a:pPr lvl="2"/>
            <a:r>
              <a:rPr lang="en-US" altLang="zh-CN" dirty="0"/>
              <a:t>A right to audit clause in a cloud contract gives the customer the legal right to review the logs</a:t>
            </a:r>
          </a:p>
          <a:p>
            <a:pPr lvl="2"/>
            <a:r>
              <a:rPr lang="en-US" altLang="zh-CN" dirty="0"/>
              <a:t>When a cloud customer is notified by its cloud provider that an incident occurred, the immediate response will be to ask for details about the scope of the impact</a:t>
            </a:r>
          </a:p>
          <a:p>
            <a:pPr lvl="3"/>
            <a:r>
              <a:rPr lang="en-US" altLang="zh-CN" dirty="0"/>
              <a:t>The cloud provider may take weeks or months to provide this</a:t>
            </a:r>
          </a:p>
          <a:p>
            <a:pPr lvl="2"/>
            <a:r>
              <a:rPr lang="en-US" altLang="zh-CN" dirty="0"/>
              <a:t>The legal </a:t>
            </a:r>
            <a:r>
              <a:rPr lang="en-US" altLang="zh-CN" b="1" dirty="0"/>
              <a:t>regulatory/jurisdiction</a:t>
            </a:r>
            <a:r>
              <a:rPr lang="en-US" altLang="zh-CN" dirty="0"/>
              <a:t> laws that govern the site in which the cloud data resides may present difficulties </a:t>
            </a:r>
            <a:endParaRPr lang="zh-CN" altLang="en-US" dirty="0"/>
          </a:p>
        </p:txBody>
      </p:sp>
    </p:spTree>
    <p:extLst>
      <p:ext uri="{BB962C8B-B14F-4D97-AF65-F5344CB8AC3E}">
        <p14:creationId xmlns:p14="http://schemas.microsoft.com/office/powerpoint/2010/main" val="35570916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When discussing the chain of custody of evidence in a cybercrime, what does provenance mean?</a:t>
            </a:r>
          </a:p>
          <a:p>
            <a:pPr marL="342900" lvl="1" indent="0">
              <a:buNone/>
            </a:pPr>
            <a:r>
              <a:rPr lang="en-US" dirty="0">
                <a:solidFill>
                  <a:srgbClr val="000000"/>
                </a:solidFill>
              </a:rPr>
              <a:t>a. Preservation of the evidence to ensure it is not destroyed</a:t>
            </a:r>
          </a:p>
          <a:p>
            <a:pPr marL="342900" lvl="1" indent="0">
              <a:buNone/>
            </a:pPr>
            <a:r>
              <a:rPr lang="en-US" dirty="0">
                <a:solidFill>
                  <a:srgbClr val="000000"/>
                </a:solidFill>
              </a:rPr>
              <a:t>b. Ensuring that collected evidence is admissible</a:t>
            </a:r>
          </a:p>
          <a:p>
            <a:pPr marL="342900" lvl="1" indent="0">
              <a:buNone/>
            </a:pPr>
            <a:r>
              <a:rPr lang="en-US" dirty="0">
                <a:solidFill>
                  <a:srgbClr val="000000"/>
                </a:solidFill>
              </a:rPr>
              <a:t>c. Documenting custody of the evidence from the beginning of the investigation</a:t>
            </a:r>
          </a:p>
          <a:p>
            <a:pPr marL="342900" lvl="1" indent="0">
              <a:buNone/>
            </a:pPr>
            <a:r>
              <a:rPr lang="en-US" dirty="0">
                <a:solidFill>
                  <a:srgbClr val="000000"/>
                </a:solidFill>
              </a:rPr>
              <a:t>d. Securing the scene of the crime until the response team arrives</a:t>
            </a:r>
          </a:p>
          <a:p>
            <a:pPr marL="342900" lvl="1" indent="0">
              <a:buNone/>
            </a:pPr>
            <a:endParaRPr lang="en-US" dirty="0"/>
          </a:p>
        </p:txBody>
      </p:sp>
    </p:spTree>
    <p:extLst>
      <p:ext uri="{BB962C8B-B14F-4D97-AF65-F5344CB8AC3E}">
        <p14:creationId xmlns:p14="http://schemas.microsoft.com/office/powerpoint/2010/main" val="2882603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When discussing the chain of custody of evidence in a cybercrime, what does provenance mean?</a:t>
            </a:r>
          </a:p>
          <a:p>
            <a:pPr marL="342900" lvl="1" indent="0">
              <a:buNone/>
            </a:pPr>
            <a:r>
              <a:rPr lang="en-US" b="1" dirty="0">
                <a:solidFill>
                  <a:srgbClr val="000000"/>
                </a:solidFill>
              </a:rPr>
              <a:t>Answer: c. </a:t>
            </a:r>
            <a:r>
              <a:rPr lang="en-US" dirty="0">
                <a:solidFill>
                  <a:srgbClr val="000000"/>
                </a:solidFill>
              </a:rPr>
              <a:t>Documenting the evidence from the beginning of the investigation</a:t>
            </a:r>
            <a:endParaRPr lang="en-US" altLang="en-US" b="1" i="1" dirty="0">
              <a:solidFill>
                <a:srgbClr val="000000"/>
              </a:solidFill>
            </a:endParaRPr>
          </a:p>
          <a:p>
            <a:pPr marL="342900" lvl="1" indent="0">
              <a:buNone/>
            </a:pPr>
            <a:r>
              <a:rPr lang="en-US" altLang="zh-CN" b="1" dirty="0">
                <a:solidFill>
                  <a:srgbClr val="000000"/>
                </a:solidFill>
              </a:rPr>
              <a:t>Provenance is the documentation of the custody of evidence from the beginning of the investigation to show that it was always under strict control and could not be tampered with.</a:t>
            </a:r>
            <a:endParaRPr lang="en-US" b="1" dirty="0">
              <a:solidFill>
                <a:srgbClr val="000000"/>
              </a:solidFill>
            </a:endParaRPr>
          </a:p>
        </p:txBody>
      </p:sp>
    </p:spTree>
    <p:extLst>
      <p:ext uri="{BB962C8B-B14F-4D97-AF65-F5344CB8AC3E}">
        <p14:creationId xmlns:p14="http://schemas.microsoft.com/office/powerpoint/2010/main" val="9662826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normAutofit/>
          </a:bodyPr>
          <a:lstStyle/>
          <a:p>
            <a:pPr marL="0" indent="0">
              <a:buNone/>
            </a:pPr>
            <a:r>
              <a:rPr lang="en-US" dirty="0"/>
              <a:t>To ensure that you have achieved the objectives of this module, write a short summary (two to three sentences) of what you learned based on each module objective. Review the module sections that relate to any objective for which you are having difficulty writing the summary:</a:t>
            </a:r>
          </a:p>
          <a:p>
            <a:pPr marL="0" indent="0">
              <a:buNone/>
            </a:pPr>
            <a:endParaRPr lang="en-US" dirty="0"/>
          </a:p>
          <a:p>
            <a:pPr marL="0" indent="0">
              <a:lnSpc>
                <a:spcPct val="100000"/>
              </a:lnSpc>
              <a:spcBef>
                <a:spcPts val="0"/>
              </a:spcBef>
              <a:buNone/>
            </a:pPr>
            <a:r>
              <a:rPr lang="en-US" altLang="zh-CN" sz="2000" dirty="0">
                <a:latin typeface="Arial"/>
                <a:cs typeface="Arial"/>
              </a:rPr>
              <a:t>1. Explain the steps in preparing for a cybersecurity incident</a:t>
            </a:r>
          </a:p>
          <a:p>
            <a:pPr marL="0" indent="0">
              <a:lnSpc>
                <a:spcPct val="100000"/>
              </a:lnSpc>
              <a:spcBef>
                <a:spcPts val="0"/>
              </a:spcBef>
              <a:buNone/>
            </a:pPr>
            <a:endParaRPr lang="en-US" altLang="zh-CN" sz="2000" dirty="0">
              <a:latin typeface="Arial"/>
              <a:cs typeface="Arial"/>
            </a:endParaRPr>
          </a:p>
          <a:p>
            <a:pPr marL="0" indent="0">
              <a:lnSpc>
                <a:spcPct val="100000"/>
              </a:lnSpc>
              <a:spcBef>
                <a:spcPts val="0"/>
              </a:spcBef>
              <a:buNone/>
            </a:pPr>
            <a:r>
              <a:rPr lang="en-US" altLang="zh-CN" sz="2000" dirty="0">
                <a:latin typeface="Arial"/>
                <a:cs typeface="Arial"/>
              </a:rPr>
              <a:t>2. Describe how to respond in an incident</a:t>
            </a:r>
          </a:p>
          <a:p>
            <a:pPr marL="0" indent="0">
              <a:lnSpc>
                <a:spcPct val="100000"/>
              </a:lnSpc>
              <a:spcBef>
                <a:spcPts val="0"/>
              </a:spcBef>
              <a:buNone/>
            </a:pPr>
            <a:endParaRPr lang="en-US" altLang="zh-CN" sz="2000" dirty="0">
              <a:latin typeface="Arial"/>
              <a:cs typeface="Arial"/>
            </a:endParaRPr>
          </a:p>
          <a:p>
            <a:pPr marL="0" indent="0">
              <a:lnSpc>
                <a:spcPct val="100000"/>
              </a:lnSpc>
              <a:spcBef>
                <a:spcPts val="0"/>
              </a:spcBef>
              <a:buNone/>
            </a:pPr>
            <a:r>
              <a:rPr lang="en-US" altLang="zh-CN" sz="2000" dirty="0">
                <a:latin typeface="Arial"/>
                <a:cs typeface="Arial"/>
              </a:rPr>
              <a:t>3. List the steps in an incident investigation</a:t>
            </a:r>
          </a:p>
          <a:p>
            <a:pPr marL="0" indent="0">
              <a:buNone/>
            </a:pPr>
            <a:endParaRPr lang="en-US" dirty="0"/>
          </a:p>
          <a:p>
            <a:pPr marL="0" indent="0">
              <a:buNone/>
            </a:pPr>
            <a:endParaRPr lang="en-US" dirty="0"/>
          </a:p>
          <a:p>
            <a:pPr marL="0" indent="0">
              <a:buNone/>
            </a:pPr>
            <a:endParaRPr lang="en-US" dirty="0"/>
          </a:p>
          <a:p>
            <a:pPr marL="342900" lvl="1" indent="0">
              <a:buNone/>
            </a:pPr>
            <a:endParaRPr lang="en-US" dirty="0"/>
          </a:p>
        </p:txBody>
      </p:sp>
    </p:spTree>
    <p:extLst>
      <p:ext uri="{BB962C8B-B14F-4D97-AF65-F5344CB8AC3E}">
        <p14:creationId xmlns:p14="http://schemas.microsoft.com/office/powerpoint/2010/main" val="3796427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(1 of 2)</a:t>
            </a:r>
          </a:p>
        </p:txBody>
      </p:sp>
      <p:sp>
        <p:nvSpPr>
          <p:cNvPr id="2" name="Text Placeholder 1"/>
          <p:cNvSpPr>
            <a:spLocks noGrp="1"/>
          </p:cNvSpPr>
          <p:nvPr>
            <p:ph type="body" sz="quarter" idx="17"/>
          </p:nvPr>
        </p:nvSpPr>
        <p:spPr/>
        <p:txBody>
          <a:bodyPr/>
          <a:lstStyle/>
          <a:p>
            <a:r>
              <a:rPr lang="en-US" altLang="en-US" dirty="0"/>
              <a:t>Access control is granting or denying approval to use specific resources</a:t>
            </a:r>
          </a:p>
          <a:p>
            <a:r>
              <a:rPr lang="en-US" altLang="en-US" dirty="0"/>
              <a:t>An access control list (ACL) is a set of permissions that is attached to an object</a:t>
            </a:r>
          </a:p>
          <a:p>
            <a:r>
              <a:rPr lang="en-US" altLang="en-US" dirty="0"/>
              <a:t>An incident response plan is a set of written instructions for reacting to a security incident</a:t>
            </a:r>
          </a:p>
          <a:p>
            <a:r>
              <a:rPr lang="en-US" altLang="en-US" dirty="0"/>
              <a:t>It is important to test an incident response plan by conducting exercises to make necessary adjustments</a:t>
            </a:r>
          </a:p>
          <a:p>
            <a:r>
              <a:rPr lang="en-US" altLang="en-US" dirty="0"/>
              <a:t>Two elements that are closely associated with using SOARs are a SOAR playbook and a runbook</a:t>
            </a:r>
          </a:p>
          <a:p>
            <a:r>
              <a:rPr lang="en-US" altLang="en-US" dirty="0"/>
              <a:t>Following a cybersecurity incident, it must be fully investigated</a:t>
            </a:r>
          </a:p>
          <a:p>
            <a:r>
              <a:rPr lang="en-US" altLang="en-US" dirty="0"/>
              <a:t>IP software monitors can provide insight into an incident</a:t>
            </a:r>
          </a:p>
          <a:p>
            <a:endParaRPr lang="en-US" altLang="en-US" dirty="0"/>
          </a:p>
        </p:txBody>
      </p:sp>
    </p:spTree>
    <p:extLst>
      <p:ext uri="{BB962C8B-B14F-4D97-AF65-F5344CB8AC3E}">
        <p14:creationId xmlns:p14="http://schemas.microsoft.com/office/powerpoint/2010/main" val="2059900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(2 of 2)</a:t>
            </a:r>
          </a:p>
        </p:txBody>
      </p:sp>
      <p:sp>
        <p:nvSpPr>
          <p:cNvPr id="2" name="Text Placeholder 1"/>
          <p:cNvSpPr>
            <a:spLocks noGrp="1"/>
          </p:cNvSpPr>
          <p:nvPr>
            <p:ph type="body" sz="quarter" idx="17"/>
          </p:nvPr>
        </p:nvSpPr>
        <p:spPr/>
        <p:txBody>
          <a:bodyPr/>
          <a:lstStyle/>
          <a:p>
            <a:r>
              <a:rPr lang="en-US" altLang="en-US" dirty="0"/>
              <a:t>Forensics is the application of science to questions that are of interest to the legal profession</a:t>
            </a:r>
          </a:p>
          <a:p>
            <a:pPr lvl="1"/>
            <a:r>
              <a:rPr lang="en-US" altLang="en-US" dirty="0"/>
              <a:t>Digital forensics uses technology to search for evidence pertaining to a cybercrime or damage that occurred during a cyber incident</a:t>
            </a:r>
          </a:p>
          <a:p>
            <a:r>
              <a:rPr lang="en-US" altLang="en-US" dirty="0"/>
              <a:t>As soon as the incident response team begins its work, it must start and maintain a strict chain of custody</a:t>
            </a:r>
          </a:p>
          <a:p>
            <a:r>
              <a:rPr lang="en-US" altLang="en-US" dirty="0"/>
              <a:t>There are different software and hardware forensics tools available for analysis</a:t>
            </a:r>
          </a:p>
        </p:txBody>
      </p:sp>
    </p:spTree>
    <p:extLst>
      <p:ext uri="{BB962C8B-B14F-4D97-AF65-F5344CB8AC3E}">
        <p14:creationId xmlns:p14="http://schemas.microsoft.com/office/powerpoint/2010/main" val="2951526341"/>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schemas.microsoft.com/office/2006/metadata/properties"/>
    <ds:schemaRef ds:uri="http://purl.org/dc/dcmitype/"/>
    <ds:schemaRef ds:uri="http://www.w3.org/XML/1998/namespace"/>
    <ds:schemaRef ds:uri="http://purl.org/dc/elements/1.1/"/>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48fa25a7-52b6-4e1f-81c8-80356bf0725f"/>
    <ds:schemaRef ds:uri="0f302c04-584d-4df5-8948-8b6dd1f3c1a5"/>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20317</TotalTime>
  <Words>3277</Words>
  <Application>Microsoft Office PowerPoint</Application>
  <PresentationFormat>Widescreen</PresentationFormat>
  <Paragraphs>360</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Arial</vt:lpstr>
      <vt:lpstr>Calibri</vt:lpstr>
      <vt:lpstr>Helvetica</vt:lpstr>
      <vt:lpstr>Open Sans</vt:lpstr>
      <vt:lpstr>Summer Font</vt:lpstr>
      <vt:lpstr>Office Theme</vt:lpstr>
      <vt:lpstr>Module 13: Incident Preparation, Response, and Investigation</vt:lpstr>
      <vt:lpstr>Module Objectives</vt:lpstr>
      <vt:lpstr>Reasons for Cybersecurity Incidents (1 of 13)</vt:lpstr>
      <vt:lpstr>Reasons for Cybersecurity Incidents (2 of 13)</vt:lpstr>
      <vt:lpstr>Reasons for Cybersecurity Incidents (3 of 13)</vt:lpstr>
      <vt:lpstr>Reasons for Cybersecurity Incidents (4 of 13)</vt:lpstr>
      <vt:lpstr>Reasons for Cybersecurity Incidents (5 of 13)</vt:lpstr>
      <vt:lpstr>Reasons for Cybersecurity Incidents (6 of 13)</vt:lpstr>
      <vt:lpstr>Reasons for Cybersecurity Incidents (7 of 13)</vt:lpstr>
      <vt:lpstr>Reasons for Cybersecurity Incidents (8 of 13)</vt:lpstr>
      <vt:lpstr>Reasons for Cybersecurity Incidents (9 of 13)</vt:lpstr>
      <vt:lpstr>Reasons for Cybersecurity Incidents (10 of 13)</vt:lpstr>
      <vt:lpstr>Reasons for Cybersecurity Incidents (11 of 13)</vt:lpstr>
      <vt:lpstr>Reasons for Cybersecurity Incidents (12 of 13)</vt:lpstr>
      <vt:lpstr>Reasons for Cybersecurity Incidents (13 of 13)</vt:lpstr>
      <vt:lpstr>Preparing for an Incident (1 of 4)</vt:lpstr>
      <vt:lpstr>Preparing for an Incident (2 of 4)</vt:lpstr>
      <vt:lpstr>Preparing for an Incident (3 of 4) </vt:lpstr>
      <vt:lpstr>Preparing for an Incident (4 of 4)</vt:lpstr>
      <vt:lpstr>Preparing for an Incident (4 of 4)</vt:lpstr>
      <vt:lpstr>Incident Response</vt:lpstr>
      <vt:lpstr>Use SOAR Runbooks and Playbooks</vt:lpstr>
      <vt:lpstr>Perform Containment</vt:lpstr>
      <vt:lpstr>Make Configuration Changes</vt:lpstr>
      <vt:lpstr>Knowledge Check Activity 2</vt:lpstr>
      <vt:lpstr>Knowledge Check Activity 2: Answer</vt:lpstr>
      <vt:lpstr>Incident Investigation</vt:lpstr>
      <vt:lpstr>Data Sources (1 of 4)</vt:lpstr>
      <vt:lpstr>Data Sources (2 of 4)</vt:lpstr>
      <vt:lpstr>Data Sources (3 of 4)</vt:lpstr>
      <vt:lpstr>Data Sources (4 of 4)</vt:lpstr>
      <vt:lpstr>Digital Forensics (1 of 10)</vt:lpstr>
      <vt:lpstr>Digital Forensics (2 of 10)</vt:lpstr>
      <vt:lpstr>Digital Forensics (3 of 10)</vt:lpstr>
      <vt:lpstr>Digital Forensics (4 of 10)</vt:lpstr>
      <vt:lpstr>Digital Forensics (5 of 10)</vt:lpstr>
      <vt:lpstr>Digital Forensics (6 of 10)</vt:lpstr>
      <vt:lpstr>Digital Forensics (7 of 10)</vt:lpstr>
      <vt:lpstr>Digital Forensics (8 of 10)</vt:lpstr>
      <vt:lpstr>Digital Forensics (9 of 10)</vt:lpstr>
      <vt:lpstr>Digital Forensics (10 of 10)</vt:lpstr>
      <vt:lpstr>Knowledge Check Activity 3</vt:lpstr>
      <vt:lpstr>Knowledge Check Activity 3: Answer</vt:lpstr>
      <vt:lpstr>Self-Assessment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Kfoury, Elie</cp:lastModifiedBy>
  <cp:revision>483</cp:revision>
  <cp:lastPrinted>2016-10-03T15:29:39Z</cp:lastPrinted>
  <dcterms:created xsi:type="dcterms:W3CDTF">2019-11-14T21:20:16Z</dcterms:created>
  <dcterms:modified xsi:type="dcterms:W3CDTF">2023-11-29T15:24:39Z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